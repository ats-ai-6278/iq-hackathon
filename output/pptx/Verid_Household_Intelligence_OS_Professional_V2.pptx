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72fff9e8824624" /><Relationship Type="http://schemas.openxmlformats.org/officeDocument/2006/relationships/extended-properties" Target="/docProps/app.xml" Id="R0bb8a0f3109446ea" /><Relationship Type="http://schemas.openxmlformats.org/officeDocument/2006/relationships/officeDocument" Target="/ppt/presentation.xml" Id="R5c60eeb739a44c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a6fbc1a9454b3c"/>
  </p:sldMasterIdLst>
  <p:notesMasterIdLst>
    <p:notesMasterId xmlns:r="http://schemas.openxmlformats.org/officeDocument/2006/relationships" r:id="R80efde3711f742d6"/>
  </p:notesMasterIdLst>
  <p:sldIdLst>
    <p:sldId xmlns:r="http://schemas.openxmlformats.org/officeDocument/2006/relationships" id="256" r:id="Rf42fb6170aaa4b0e"/>
    <p:sldId xmlns:r="http://schemas.openxmlformats.org/officeDocument/2006/relationships" id="257" r:id="R9258481e286047b3"/>
    <p:sldId xmlns:r="http://schemas.openxmlformats.org/officeDocument/2006/relationships" id="258" r:id="Rcc41084b858742e7"/>
    <p:sldId xmlns:r="http://schemas.openxmlformats.org/officeDocument/2006/relationships" id="259" r:id="Rc5ce10c0ba6f4df9"/>
    <p:sldId xmlns:r="http://schemas.openxmlformats.org/officeDocument/2006/relationships" id="260" r:id="R73e5b72f8e114451"/>
    <p:sldId xmlns:r="http://schemas.openxmlformats.org/officeDocument/2006/relationships" id="261" r:id="R8e8b2007637a4805"/>
    <p:sldId xmlns:r="http://schemas.openxmlformats.org/officeDocument/2006/relationships" id="262" r:id="R6061e61e33ea4c9a"/>
    <p:sldId xmlns:r="http://schemas.openxmlformats.org/officeDocument/2006/relationships" id="263" r:id="Rf89453eaf6fc46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c942b2965d4246" /><Relationship Type="http://schemas.openxmlformats.org/officeDocument/2006/relationships/slideMaster" Target="/ppt/slideMasters/slideMaster1.xml" Id="R77a6fbc1a9454b3c" /><Relationship Type="http://schemas.openxmlformats.org/officeDocument/2006/relationships/notesMaster" Target="/ppt/notesMasters/notesMaster1.xml" Id="R80efde3711f742d6" /><Relationship Type="http://schemas.openxmlformats.org/officeDocument/2006/relationships/presProps" Target="/ppt/presProps.xml" Id="R588aa864bd18448a" /><Relationship Type="http://schemas.openxmlformats.org/officeDocument/2006/relationships/tableStyles" Target="/ppt/tableStyles.xml" Id="Ra1db8491e98b4132" /><Relationship Type="http://schemas.openxmlformats.org/officeDocument/2006/relationships/slide" Target="/ppt/slides/slide1.xml" Id="Rf42fb6170aaa4b0e" /><Relationship Type="http://schemas.openxmlformats.org/officeDocument/2006/relationships/slide" Target="/ppt/slides/slide2.xml" Id="R9258481e286047b3" /><Relationship Type="http://schemas.openxmlformats.org/officeDocument/2006/relationships/slide" Target="/ppt/slides/slide3.xml" Id="Rcc41084b858742e7" /><Relationship Type="http://schemas.openxmlformats.org/officeDocument/2006/relationships/slide" Target="/ppt/slides/slide4.xml" Id="Rc5ce10c0ba6f4df9" /><Relationship Type="http://schemas.openxmlformats.org/officeDocument/2006/relationships/slide" Target="/ppt/slides/slide5.xml" Id="R73e5b72f8e114451" /><Relationship Type="http://schemas.openxmlformats.org/officeDocument/2006/relationships/slide" Target="/ppt/slides/slide6.xml" Id="R8e8b2007637a4805" /><Relationship Type="http://schemas.openxmlformats.org/officeDocument/2006/relationships/slide" Target="/ppt/slides/slide7.xml" Id="R6061e61e33ea4c9a" /><Relationship Type="http://schemas.openxmlformats.org/officeDocument/2006/relationships/slide" Target="/ppt/slides/slide8.xml" Id="Rf89453eaf6fc46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16c026279543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e39a69112247de" /><Relationship Type="http://schemas.openxmlformats.org/officeDocument/2006/relationships/notesMaster" Target="/ppt/notesMasters/notesMaster1.xml" Id="R68cb1bcde1fc43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0e8626b56f47fa" /><Relationship Type="http://schemas.openxmlformats.org/officeDocument/2006/relationships/notesMaster" Target="/ppt/notesMasters/notesMaster1.xml" Id="R617b93f3608e49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52813062494a26" /><Relationship Type="http://schemas.openxmlformats.org/officeDocument/2006/relationships/notesMaster" Target="/ppt/notesMasters/notesMaster1.xml" Id="R5996c8b6f6bf44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dbd34b4279483f" /><Relationship Type="http://schemas.openxmlformats.org/officeDocument/2006/relationships/notesMaster" Target="/ppt/notesMasters/notesMaster1.xml" Id="R4917f5b32f5b43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700aff46b44a87" /><Relationship Type="http://schemas.openxmlformats.org/officeDocument/2006/relationships/notesMaster" Target="/ppt/notesMasters/notesMaster1.xml" Id="R10214dbe3ac24b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2c27acc94049bd" /><Relationship Type="http://schemas.openxmlformats.org/officeDocument/2006/relationships/notesMaster" Target="/ppt/notesMasters/notesMaster1.xml" Id="R9ab16b5ef5e840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823db8cd504e88" /><Relationship Type="http://schemas.openxmlformats.org/officeDocument/2006/relationships/notesMaster" Target="/ppt/notesMasters/notesMaster1.xml" Id="Rc1c5b24a95af49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d9a9a7d4ef4b11" /><Relationship Type="http://schemas.openxmlformats.org/officeDocument/2006/relationships/notesMaster" Target="/ppt/notesMasters/notesMaster1.xml" Id="R408af3b23e8748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PROJECT_DOCUMENTATION.md, Team Verid, iQOO Hackathon 2026. Project screenshots are supplied by the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PROJECT_DOCUMENTATION.md, Team Verid, iQOO Hackathon 2026. Project screenshots are supplied by the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PROJECT_DOCUMENTATION.md, Team Verid, iQOO Hackathon 2026. Project screenshots are supplied by the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PROJECT_DOCUMENTATION.md, Team Verid, iQOO Hackathon 2026. Project screenshots are supplied by the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PROJECT_DOCUMENTATION.md, Team Verid, iQOO Hackathon 2026. Project screenshots are supplied by the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PROJECT_DOCUMENTATION.md, Team Verid, iQOO Hackathon 2026. Project screenshots are supplied by the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PROJECT_DOCUMENTATION.md, Team Verid, iQOO Hackathon 2026. Project screenshots are supplied by the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PROJECT_DOCUMENTATION.md, Team Verid, iQOO Hackathon 2026. Project screenshots are supplied by the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6e20ac93eb41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21bda62ca7445d" /><Relationship Type="http://schemas.openxmlformats.org/officeDocument/2006/relationships/slideLayout" Target="/ppt/slideLayouts/slideLayout1.xml" Id="Rdfe3873f080846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e3873f080846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006b5c7d6840da" /><Relationship Type="http://schemas.openxmlformats.org/officeDocument/2006/relationships/image" Target="/ppt/media/image.jpeg" Id="Rfa9ea157020444f0" /><Relationship Type="http://schemas.openxmlformats.org/officeDocument/2006/relationships/notesSlide" Target="/ppt/notesSlides/notesSlide1.xml" Id="R232b968168794c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e5fd939544dea" /><Relationship Type="http://schemas.openxmlformats.org/officeDocument/2006/relationships/notesSlide" Target="/ppt/notesSlides/notesSlide2.xml" Id="R51003722fa7b46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0475ad1f1049a3" /><Relationship Type="http://schemas.openxmlformats.org/officeDocument/2006/relationships/image" Target="/ppt/media/image.png" Id="Rf3cf93986335469f" /><Relationship Type="http://schemas.openxmlformats.org/officeDocument/2006/relationships/image" Target="/ppt/media/image2.png" Id="R45d7c462030e4a83" /><Relationship Type="http://schemas.openxmlformats.org/officeDocument/2006/relationships/image" Target="/ppt/media/image3.png" Id="Re6aa409c312a4e30" /><Relationship Type="http://schemas.openxmlformats.org/officeDocument/2006/relationships/notesSlide" Target="/ppt/notesSlides/notesSlide3.xml" Id="R5d2126d37fe947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a8d3697f84512" /><Relationship Type="http://schemas.openxmlformats.org/officeDocument/2006/relationships/image" Target="/ppt/media/image4.png" Id="Re94f351706e240fd" /><Relationship Type="http://schemas.openxmlformats.org/officeDocument/2006/relationships/image" Target="/ppt/media/image5.png" Id="R19b77f26ad744532" /><Relationship Type="http://schemas.openxmlformats.org/officeDocument/2006/relationships/notesSlide" Target="/ppt/notesSlides/notesSlide4.xml" Id="Rdd7011ad08c14b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75018cf7da45d4" /><Relationship Type="http://schemas.openxmlformats.org/officeDocument/2006/relationships/image" Target="/ppt/media/image2.jpeg" Id="R888c92099ada451a" /><Relationship Type="http://schemas.openxmlformats.org/officeDocument/2006/relationships/image" Target="/ppt/media/image3.jpeg" Id="R58d178a005264ffa" /><Relationship Type="http://schemas.openxmlformats.org/officeDocument/2006/relationships/image" Target="/ppt/media/image6.png" Id="R6e0acff2c5054da8" /><Relationship Type="http://schemas.openxmlformats.org/officeDocument/2006/relationships/notesSlide" Target="/ppt/notesSlides/notesSlide5.xml" Id="Ra43918e19f674a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5f4bc3d43948ab" /><Relationship Type="http://schemas.openxmlformats.org/officeDocument/2006/relationships/image" Target="/ppt/media/image7.png" Id="Rd8f82869076f4f9b" /><Relationship Type="http://schemas.openxmlformats.org/officeDocument/2006/relationships/image" Target="/ppt/media/image8.png" Id="R9f93f308f3664eab" /><Relationship Type="http://schemas.openxmlformats.org/officeDocument/2006/relationships/notesSlide" Target="/ppt/notesSlides/notesSlide6.xml" Id="Rd665903d710540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82e74492446f0" /><Relationship Type="http://schemas.openxmlformats.org/officeDocument/2006/relationships/image" Target="/ppt/media/image9.png" Id="R72da1b89547b420b" /><Relationship Type="http://schemas.openxmlformats.org/officeDocument/2006/relationships/image" Target="/ppt/media/image10.png" Id="R90fc43b917a341dd" /><Relationship Type="http://schemas.openxmlformats.org/officeDocument/2006/relationships/image" Target="/ppt/media/image11.png" Id="R2f300f6801de4762" /><Relationship Type="http://schemas.openxmlformats.org/officeDocument/2006/relationships/notesSlide" Target="/ppt/notesSlides/notesSlide7.xml" Id="Rc493fead8bad40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7e8312ce149db" /><Relationship Type="http://schemas.openxmlformats.org/officeDocument/2006/relationships/image" Target="/ppt/media/image12.png" Id="Rc714e4c086ae42d6" /><Relationship Type="http://schemas.openxmlformats.org/officeDocument/2006/relationships/notesSlide" Target="/ppt/notesSlides/notesSlide8.xml" Id="Re649dd4c34004b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2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FA75C5-7F79-4B1B-9E00-2D0201EC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C2D0DA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C2D0DA"/>
                </a:solidFill>
                <a:latin typeface="Arial"/>
                <a:ea typeface="Arial"/>
                <a:cs typeface="Arial"/>
              </a:rPr>
              <a:t>VERID / HOUSEHOLD INTELLIGENCE 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DE306E-26BC-4BE6-A222-6DB3E054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D7B97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D7B9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27CE11-2316-4F41-985C-92E2BC9C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5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9ea157020444f0"/>
          <a:srcRect xmlns:a="http://schemas.openxmlformats.org/drawingml/2006/main" l="30078" t="0" r="300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96150" y="0"/>
            <a:ext cx="4895850" cy="6858000"/>
          </a:xfrm>
          <a:prstGeom xmlns:a="http://schemas.openxmlformats.org/drawingml/2006/main" prst="roundRect">
            <a:avLst>
              <a:gd name="adj" fmla="val 311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18E65-1B71-43C5-B799-0FE417E0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0"/>
            <a:ext cx="209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7F855C-AE01-40A5-B8C9-A3F5AF87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D7B97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7B970"/>
                </a:solidFill>
                <a:latin typeface="Arial"/>
                <a:ea typeface="Arial"/>
                <a:cs typeface="Arial"/>
              </a:rPr>
              <a:t>IQOO HACKATHON 2026 / AI TRACK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D59D29-3B83-4383-BBDC-2F2940D2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6238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household assistant</a:t>
            </a:r>
          </a:p>
          <a:p xmlns:a="http://schemas.openxmlformats.org/drawingml/2006/main">
            <a:pPr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that knows your home.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154723-A89B-4B3C-AC2D-C4B0D3C8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542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C2D0D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C2D0DA"/>
                </a:solidFill>
                <a:latin typeface="Arial"/>
                <a:ea typeface="Arial"/>
                <a:cs typeface="Arial"/>
              </a:rPr>
              <a:t>Verid brings live camera understanding, product records, and household context together on a mobile-first experience.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8B71FB-A307-470D-A233-4CB756A8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97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635B5E-B3E0-44F4-A78F-E1912950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Live video conversation</a:t>
            </a:r>
          </a:p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Household graph awareness</a:t>
            </a:r>
          </a:p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Built for mobile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BCAE83-CA49-49B8-A694-D56B21E3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72125"/>
            <a:ext cx="528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C2D0D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2D0DA"/>
                </a:solidFill>
                <a:latin typeface="Arial"/>
                <a:ea typeface="Arial"/>
                <a:cs typeface="Arial"/>
              </a:rPr>
              <a:t>A working product for the moment homeowners need context: when something breaks, expires, or gets forgotten.</a:t>
            </a:r>
          </a:p>
        </p:txBody>
      </p:sp>
    </p:spTree>
    <p:extLst>
      <p:ext uri="{BB962C8B-B14F-4D97-AF65-F5344CB8AC3E}">
        <p14:creationId xmlns:p14="http://schemas.microsoft.com/office/powerpoint/2010/main" val="6663010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0C34CB-4F32-449C-9436-F0EC1ACE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83049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183049"/>
                </a:solidFill>
                <a:latin typeface="Arial"/>
                <a:ea typeface="Arial"/>
                <a:cs typeface="Arial"/>
              </a:rPr>
              <a:t>VERID / HOUSEHOLD INTELLIGENCE 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32CEB-6252-472F-812B-7D508EAC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183049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8304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6110A8-7570-4968-A83A-F72D42B3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18304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83049"/>
                </a:solidFill>
                <a:latin typeface="Arial"/>
                <a:ea typeface="Arial"/>
                <a:cs typeface="Arial"/>
              </a:rPr>
              <a:t>THE HOUSEHOLD OWNERSHIP GAP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91B54F-A54E-4061-A5B0-5553FC4C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8191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183049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83049"/>
                </a:solidFill>
                <a:latin typeface="Arial"/>
                <a:ea typeface="Arial"/>
                <a:cs typeface="Arial"/>
              </a:rPr>
              <a:t>A product’s history disappears the moment it enters the home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C1EB0-746C-4B9D-A2A2-2633B8D8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71650"/>
            <a:ext cx="823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518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9627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96277"/>
                </a:solidFill>
                <a:latin typeface="Arial"/>
                <a:ea typeface="Arial"/>
                <a:cs typeface="Arial"/>
              </a:rPr>
              <a:t>Documents, hardware evidence, and service events live apart. That makes a simple warranty claim or maintenance decision unnecessarily hard.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5077F-1A00-4D66-BF36-EB1C2EB6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9900"/>
            <a:ext cx="33147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404E7-9728-4B56-83B8-9406F9FB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BF786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F786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563D3A-C9BC-43F2-A8D6-8B6D4B9A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83049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3049"/>
                </a:solidFill>
                <a:latin typeface="Arial"/>
                <a:ea typeface="Arial"/>
                <a:cs typeface="Arial"/>
              </a:rPr>
              <a:t>Proof is scattered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3BABA8-BB2B-4994-9FFA-C2FA07E2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2686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26C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C81"/>
                </a:solidFill>
                <a:latin typeface="Arial"/>
                <a:ea typeface="Arial"/>
                <a:cs typeface="Arial"/>
              </a:rPr>
              <a:t>Invoices sit in chat threads, folders, and drawers while model and serial details fade from view.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865676-C7BF-4EA5-9A1C-823CE17B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09900"/>
            <a:ext cx="33147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8A53B3-771E-4EB3-9E05-A7479FE7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385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BF786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F786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85DDFC-701E-42AF-AC7C-26C6D4A5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38550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83049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3049"/>
                </a:solidFill>
                <a:latin typeface="Arial"/>
                <a:ea typeface="Arial"/>
                <a:cs typeface="Arial"/>
              </a:rPr>
              <a:t>Care arrives too late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4D73B9-136F-4DF0-9AF4-F31C0D26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14800"/>
            <a:ext cx="2686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26C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C81"/>
                </a:solidFill>
                <a:latin typeface="Arial"/>
                <a:ea typeface="Arial"/>
                <a:cs typeface="Arial"/>
              </a:rPr>
              <a:t>Warranty deadlines, filters, cleaning, and service history surface only after a failure.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EE5172-FDD0-4C4B-B179-5E83AD56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09900"/>
            <a:ext cx="33147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0BAE77-17AA-4B17-A45A-5BA42546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385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BF786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F786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B2721F-8384-44B5-AB49-8A861092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38550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83049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3049"/>
                </a:solidFill>
                <a:latin typeface="Arial"/>
                <a:ea typeface="Arial"/>
                <a:cs typeface="Arial"/>
              </a:rPr>
              <a:t>Files cannot answer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7A15ED-2066-4796-ACB9-58A95490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14800"/>
            <a:ext cx="2686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26C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C81"/>
                </a:solidFill>
                <a:latin typeface="Arial"/>
                <a:ea typeface="Arial"/>
                <a:cs typeface="Arial"/>
              </a:rPr>
              <a:t>A storage folder cannot connect a real appliance to evidence, a manual, and the next action.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A69412-D317-4DC0-8DB5-712977C0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626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8304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83049"/>
                </a:solidFill>
                <a:latin typeface="Arial"/>
                <a:ea typeface="Arial"/>
                <a:cs typeface="Arial"/>
              </a:rPr>
              <a:t>The missed opportunity: turn ownership records into a reliable, usable household memory.</a:t>
            </a:r>
          </a:p>
        </p:txBody>
      </p:sp>
    </p:spTree>
    <p:extLst>
      <p:ext uri="{BB962C8B-B14F-4D97-AF65-F5344CB8AC3E}">
        <p14:creationId xmlns:p14="http://schemas.microsoft.com/office/powerpoint/2010/main" val="15854324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322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A6C700-ECD8-4179-A3A0-6BF13E7B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C2D0DA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C2D0DA"/>
                </a:solidFill>
                <a:latin typeface="Arial"/>
                <a:ea typeface="Arial"/>
                <a:cs typeface="Arial"/>
              </a:rPr>
              <a:t>VERID / HOUSEHOLD INTELLIGENCE 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4D0228-0713-45CA-AA4C-1C284998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D7B97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D7B9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83AA8F-E4E3-46A6-B2D0-B960D2A4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D7B97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7B970"/>
                </a:solidFill>
                <a:latin typeface="Arial"/>
                <a:ea typeface="Arial"/>
                <a:cs typeface="Arial"/>
              </a:rPr>
              <a:t>THE CORE 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D04CB2-8ADA-4E00-B77B-2F7E5A40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7620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verified passport for every important product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ABCBB-0DD1-4098-BE11-711EBE36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369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C2D0D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2D0DA"/>
                </a:solidFill>
                <a:latin typeface="Arial"/>
                <a:ea typeface="Arial"/>
                <a:cs typeface="Arial"/>
              </a:rPr>
              <a:t>Verid pairs commercial evidence with a real product photo before it creates a household record.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cf93986335469f"/>
          <a:srcRect xmlns:a="http://schemas.openxmlformats.org/drawingml/2006/main" l="25626" t="0" r="256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619375"/>
            <a:ext cx="2333625" cy="2381250"/>
          </a:xfrm>
          <a:prstGeom xmlns:a="http://schemas.openxmlformats.org/drawingml/2006/main" prst="roundRect">
            <a:avLst>
              <a:gd name="adj" fmla="val 6531"/>
            </a:avLst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d7c462030e4a83"/>
          <a:srcRect xmlns:a="http://schemas.openxmlformats.org/drawingml/2006/main" l="0" t="5031" r="0" b="5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62300" y="2619375"/>
            <a:ext cx="2333625" cy="2381250"/>
          </a:xfrm>
          <a:prstGeom xmlns:a="http://schemas.openxmlformats.org/drawingml/2006/main" prst="roundRect">
            <a:avLst>
              <a:gd name="adj" fmla="val 653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BB5A6E-9D19-419D-B7D0-E0989536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24450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72ADC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2ADC0"/>
                </a:solidFill>
                <a:latin typeface="Arial"/>
                <a:ea typeface="Arial"/>
                <a:cs typeface="Arial"/>
              </a:rPr>
              <a:t>DOCUMENT</a:t>
            </a:r>
          </a:p>
          <a:p xmlns:a="http://schemas.openxmlformats.org/drawingml/2006/main">
            <a:pPr>
              <a:defRPr sz="900" b="1" i="0">
                <a:solidFill>
                  <a:srgbClr val="72ADC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2ADC0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9CEE41-D0DD-4DB1-B040-A1A81428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124450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84B9A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4B9A8"/>
                </a:solidFill>
                <a:latin typeface="Arial"/>
                <a:ea typeface="Arial"/>
                <a:cs typeface="Arial"/>
              </a:rPr>
              <a:t>HARDWARE</a:t>
            </a:r>
          </a:p>
          <a:p xmlns:a="http://schemas.openxmlformats.org/drawingml/2006/main">
            <a:pPr>
              <a:defRPr sz="900" b="1" i="0">
                <a:solidFill>
                  <a:srgbClr val="84B9A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4B9A8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BDE196-5F8B-4B6F-9E74-1F754775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81375"/>
            <a:ext cx="419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D7B97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D7B97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7E48F-B6B6-4926-8442-EACFA85D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33675"/>
            <a:ext cx="1962150" cy="1971675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203A53"/>
          </a:solidFill>
          <a:ln xmlns:a="http://schemas.openxmlformats.org/drawingml/2006/main" w="9525">
            <a:solidFill>
              <a:srgbClr val="49677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1B0BCE-E4E9-443B-B02B-3FDD3A42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076575"/>
            <a:ext cx="1504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33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D7B97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D7B970"/>
                </a:solidFill>
                <a:latin typeface="Arial"/>
                <a:ea typeface="Arial"/>
                <a:cs typeface="Arial"/>
              </a:rPr>
              <a:t>RapidOCR</a:t>
            </a:r>
          </a:p>
          <a:p xmlns:a="http://schemas.openxmlformats.org/drawingml/2006/main">
            <a:pPr>
              <a:defRPr sz="1875" b="1" i="0">
                <a:solidFill>
                  <a:srgbClr val="D7B97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D7B970"/>
                </a:solidFill>
                <a:latin typeface="Arial"/>
                <a:ea typeface="Arial"/>
                <a:cs typeface="Arial"/>
              </a:rPr>
              <a:t>+ YOLO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A95BE8-32E6-486A-BB67-CCC33AC1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33825"/>
            <a:ext cx="156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650"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C2D0DA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C2D0DA"/>
                </a:solidFill>
                <a:latin typeface="Arial"/>
                <a:ea typeface="Arial"/>
                <a:cs typeface="Arial"/>
              </a:rPr>
              <a:t>Extracts facts</a:t>
            </a:r>
          </a:p>
          <a:p xmlns:a="http://schemas.openxmlformats.org/drawingml/2006/main">
            <a:pPr>
              <a:defRPr sz="975" b="0" i="0">
                <a:solidFill>
                  <a:srgbClr val="C2D0DA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C2D0DA"/>
                </a:solidFill>
                <a:latin typeface="Arial"/>
                <a:ea typeface="Arial"/>
                <a:cs typeface="Arial"/>
              </a:rPr>
              <a:t>Checks the physical object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aa409c312a4e30"/>
          <a:srcRect xmlns:a="http://schemas.openxmlformats.org/drawingml/2006/main" l="30188" t="0" r="30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0" y="2076450"/>
            <a:ext cx="2809875" cy="3286125"/>
          </a:xfrm>
          <a:prstGeom xmlns:a="http://schemas.openxmlformats.org/drawingml/2006/main" prst="roundRect">
            <a:avLst>
              <a:gd name="adj" fmla="val 5424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75623C-8F00-4CE2-8798-9B470AB2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197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C2D0D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2D0DA"/>
                </a:solidFill>
                <a:latin typeface="Arial"/>
                <a:ea typeface="Arial"/>
                <a:cs typeface="Arial"/>
              </a:rPr>
              <a:t>A durable record with evidence, identity, warranty, manual, service history, and next actions.</a:t>
            </a:r>
          </a:p>
        </p:txBody>
      </p:sp>
    </p:spTree>
    <p:extLst>
      <p:ext uri="{BB962C8B-B14F-4D97-AF65-F5344CB8AC3E}">
        <p14:creationId xmlns:p14="http://schemas.microsoft.com/office/powerpoint/2010/main" val="10285190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0C4391-D770-4144-81EF-ABB8FAF6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83049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183049"/>
                </a:solidFill>
                <a:latin typeface="Arial"/>
                <a:ea typeface="Arial"/>
                <a:cs typeface="Arial"/>
              </a:rPr>
              <a:t>VERID / HOUSEHOLD INTELLIGENCE 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EA676-226F-4026-867F-D3A3C549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183049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8304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F9A366-6DBC-446C-8591-6C11F160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18304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83049"/>
                </a:solidFill>
                <a:latin typeface="Arial"/>
                <a:ea typeface="Arial"/>
                <a:cs typeface="Arial"/>
              </a:rPr>
              <a:t>MOBILE MULTIMODAL UNDERSTANDING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2B3A90-8E90-458B-A2B4-DE79F962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8477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183049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83049"/>
                </a:solidFill>
                <a:latin typeface="Arial"/>
                <a:ea typeface="Arial"/>
                <a:cs typeface="Arial"/>
              </a:rPr>
              <a:t>Live vision understands the room and the household behind 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1491B1-6F6C-4038-A0D6-222A7603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148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9627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96277"/>
                </a:solidFill>
                <a:latin typeface="Arial"/>
                <a:ea typeface="Arial"/>
                <a:cs typeface="Arial"/>
              </a:rPr>
              <a:t>The primary experience combines a live camera conversation with the household graph. A compact detector adds fast support for common appliance categories.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E679B7-9966-4663-AE11-0B258623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24125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183049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83049"/>
                </a:solidFill>
                <a:latin typeface="Arial"/>
                <a:ea typeface="Arial"/>
                <a:cs typeface="Arial"/>
              </a:rPr>
              <a:t>Live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56860-BF59-4890-83D7-0C010B80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81325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782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C2D0D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C2D0DA"/>
                </a:solidFill>
                <a:latin typeface="Arial"/>
                <a:ea typeface="Arial"/>
                <a:cs typeface="Arial"/>
              </a:rPr>
              <a:t>Camera view plus the household graph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0A6DDC-CA57-4BA8-B5F9-F20FF3EB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524125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BF786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BF7863"/>
                </a:solidFill>
                <a:latin typeface="Arial"/>
                <a:ea typeface="Arial"/>
                <a:cs typeface="Arial"/>
              </a:rPr>
              <a:t>99.29%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DD3A62-960F-41CF-901A-A582BEC5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981325"/>
            <a:ext cx="252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C2D0D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C2D0DA"/>
                </a:solidFill>
                <a:latin typeface="Arial"/>
                <a:ea typeface="Arial"/>
                <a:cs typeface="Arial"/>
              </a:rPr>
              <a:t>Supporting detector precision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1D36F-C010-4332-8A83-4AD4B235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24125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183049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83049"/>
                </a:solidFill>
                <a:latin typeface="Arial"/>
                <a:ea typeface="Arial"/>
                <a:cs typeface="Arial"/>
              </a:rPr>
              <a:t>69-97 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E698FA-B0D0-44A3-84C4-60836F0A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981325"/>
            <a:ext cx="252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C2D0D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C2D0DA"/>
                </a:solidFill>
                <a:latin typeface="Arial"/>
                <a:ea typeface="Arial"/>
                <a:cs typeface="Arial"/>
              </a:rPr>
              <a:t>Supporting detector latency on CPU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4f351706e240fd"/>
          <a:stretch xmlns:a="http://schemas.openxmlformats.org/drawingml/2006/main"/>
        </p:blipFill>
        <p:spPr>
          <a:xfrm xmlns:a="http://schemas.openxmlformats.org/drawingml/2006/main">
            <a:off x="1060450" y="3667125"/>
            <a:ext cx="2984500" cy="2238375"/>
          </a:xfrm>
          <a:prstGeom xmlns:a="http://schemas.openxmlformats.org/drawingml/2006/main" prst="roundRect">
            <a:avLst>
              <a:gd name="adj" fmla="val 6809"/>
            </a:avLst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b77f26ad744532"/>
          <a:stretch xmlns:a="http://schemas.openxmlformats.org/drawingml/2006/main"/>
        </p:blipFill>
        <p:spPr>
          <a:xfrm xmlns:a="http://schemas.openxmlformats.org/drawingml/2006/main">
            <a:off x="4905375" y="3786188"/>
            <a:ext cx="4000500" cy="2000250"/>
          </a:xfrm>
          <a:prstGeom xmlns:a="http://schemas.openxmlformats.org/drawingml/2006/main" prst="roundRect">
            <a:avLst>
              <a:gd name="adj" fmla="val 6809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637DAC-2702-4307-9CB7-B2CE56B7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67125"/>
            <a:ext cx="2381250" cy="2238375"/>
          </a:xfrm>
          <a:prstGeom xmlns:a="http://schemas.openxmlformats.org/drawingml/2006/main" prst="roundRect">
            <a:avLst>
              <a:gd name="adj" fmla="val 7660"/>
            </a:avLst>
          </a:prstGeom>
          <a:solidFill xmlns:a="http://schemas.openxmlformats.org/drawingml/2006/main">
            <a:srgbClr val="18304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F23EAF-2F28-4A37-BFD9-7164457A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9433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D7B97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7B970"/>
                </a:solidFill>
                <a:latin typeface="Arial"/>
                <a:ea typeface="Arial"/>
                <a:cs typeface="Arial"/>
              </a:rPr>
              <a:t>Supporting detector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0B6CDD-A22D-433F-9BB6-A9ADD8DE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81500"/>
            <a:ext cx="1809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</a:t>
            </a:r>
          </a:p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Washing machine</a:t>
            </a:r>
          </a:p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Closet</a:t>
            </a:r>
          </a:p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Water purifier</a:t>
            </a:r>
          </a:p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Cot</a:t>
            </a:r>
          </a:p>
        </p:txBody>
      </p:sp>
    </p:spTree>
    <p:extLst>
      <p:ext uri="{BB962C8B-B14F-4D97-AF65-F5344CB8AC3E}">
        <p14:creationId xmlns:p14="http://schemas.microsoft.com/office/powerpoint/2010/main" val="17205242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322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5692E1-B747-4213-8E02-94EEBDC5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C2D0DA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C2D0DA"/>
                </a:solidFill>
                <a:latin typeface="Arial"/>
                <a:ea typeface="Arial"/>
                <a:cs typeface="Arial"/>
              </a:rPr>
              <a:t>VERID / HOUSEHOLD INTELLIGENCE 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C1AEEC-9D06-4AF5-A5B4-E93F6408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D7B97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D7B9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B6A3F2-5198-4172-8918-5906061E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D7B97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7B970"/>
                </a:solidFill>
                <a:latin typeface="Arial"/>
                <a:ea typeface="Arial"/>
                <a:cs typeface="Arial"/>
              </a:rPr>
              <a:t>THE DAILY EXPERIENCE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8E6910-A1B6-4404-B52B-46FE20C6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6572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Live camera conversation with your home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34A201-71B1-47F8-BA76-DFC9AABE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676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259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C2D0D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2D0DA"/>
                </a:solidFill>
                <a:latin typeface="Arial"/>
                <a:ea typeface="Arial"/>
                <a:cs typeface="Arial"/>
              </a:rPr>
              <a:t>The assistant sees the current view while using the household graph to answer in context and suggest the right next step.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8c92099ada451a"/>
          <a:srcRect xmlns:a="http://schemas.openxmlformats.org/drawingml/2006/main" l="13975" t="0" r="139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571750"/>
            <a:ext cx="3381375" cy="2619375"/>
          </a:xfrm>
          <a:prstGeom xmlns:a="http://schemas.openxmlformats.org/drawingml/2006/main" prst="roundRect">
            <a:avLst>
              <a:gd name="adj" fmla="val 5818"/>
            </a:avLst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d178a005264ffa"/>
          <a:srcRect xmlns:a="http://schemas.openxmlformats.org/drawingml/2006/main" l="13975" t="0" r="139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57675" y="2571750"/>
            <a:ext cx="3381375" cy="2619375"/>
          </a:xfrm>
          <a:prstGeom xmlns:a="http://schemas.openxmlformats.org/drawingml/2006/main" prst="roundRect">
            <a:avLst>
              <a:gd name="adj" fmla="val 5818"/>
            </a:avLst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0acff2c5054da8"/>
          <a:srcRect xmlns:a="http://schemas.openxmlformats.org/drawingml/2006/main" l="20006" t="0" r="200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62900" y="2571750"/>
            <a:ext cx="3390900" cy="2619375"/>
          </a:xfrm>
          <a:prstGeom xmlns:a="http://schemas.openxmlformats.org/drawingml/2006/main" prst="roundRect">
            <a:avLst>
              <a:gd name="adj" fmla="val 581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9281E3-7E6D-4C5E-BD08-9B5A6A35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00675"/>
            <a:ext cx="3381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D7B97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D7B970"/>
                </a:solidFill>
                <a:latin typeface="Arial"/>
                <a:ea typeface="Arial"/>
                <a:cs typeface="Arial"/>
              </a:rPr>
              <a:t>Share the live 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470140-5AC6-4D6E-AA29-289E949B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400675"/>
            <a:ext cx="3381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D7B97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D7B970"/>
                </a:solidFill>
                <a:latin typeface="Arial"/>
                <a:ea typeface="Arial"/>
                <a:cs typeface="Arial"/>
              </a:rPr>
              <a:t>Understand priority and health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882C5F-9FFA-4F14-9C51-06515265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400675"/>
            <a:ext cx="3390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D7B97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D7B970"/>
                </a:solidFill>
                <a:latin typeface="Arial"/>
                <a:ea typeface="Arial"/>
                <a:cs typeface="Arial"/>
              </a:rPr>
              <a:t>Ask with household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B4B9E4-5E1F-43F0-B7B6-B2FBD8B8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626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 i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 i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“When does my washing machine warranty expire?”</a:t>
            </a:r>
          </a:p>
        </p:txBody>
      </p:sp>
    </p:spTree>
    <p:extLst>
      <p:ext uri="{BB962C8B-B14F-4D97-AF65-F5344CB8AC3E}">
        <p14:creationId xmlns:p14="http://schemas.microsoft.com/office/powerpoint/2010/main" val="18277405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6AE03B-18CD-4CED-BC04-5B396A28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83049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183049"/>
                </a:solidFill>
                <a:latin typeface="Arial"/>
                <a:ea typeface="Arial"/>
                <a:cs typeface="Arial"/>
              </a:rPr>
              <a:t>VERID / HOUSEHOLD INTELLIGENCE 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14EA94-8061-434A-BF5C-0028D76A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183049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8304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DE0FE0-00AF-4BC0-BFAC-C903D1A2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18304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83049"/>
                </a:solidFill>
                <a:latin typeface="Arial"/>
                <a:ea typeface="Arial"/>
                <a:cs typeface="Arial"/>
              </a:rPr>
              <a:t>TRUST IS A PRODUCT FEATURE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B1755-746A-43E1-9D87-97DF6653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619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183049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83049"/>
                </a:solidFill>
                <a:latin typeface="Arial"/>
                <a:ea typeface="Arial"/>
                <a:cs typeface="Arial"/>
              </a:rPr>
              <a:t>Every answer carries its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2546CC-B2F4-4022-B0EA-7A18F365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7000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518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9627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96277"/>
                </a:solidFill>
                <a:latin typeface="Arial"/>
                <a:ea typeface="Arial"/>
                <a:cs typeface="Arial"/>
              </a:rPr>
              <a:t>Verid shows the answer, why it reached it, and the source record. When the system cannot verify a detail, it says so.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f82869076f4f9b"/>
          <a:srcRect xmlns:a="http://schemas.openxmlformats.org/drawingml/2006/main" l="9253" t="0" r="92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571750"/>
            <a:ext cx="4857750" cy="2762250"/>
          </a:xfrm>
          <a:prstGeom xmlns:a="http://schemas.openxmlformats.org/drawingml/2006/main" prst="roundRect">
            <a:avLst>
              <a:gd name="adj" fmla="val 5517"/>
            </a:avLst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93f308f3664eab"/>
          <a:stretch xmlns:a="http://schemas.openxmlformats.org/drawingml/2006/main"/>
        </p:blipFill>
        <p:spPr>
          <a:xfrm xmlns:a="http://schemas.openxmlformats.org/drawingml/2006/main">
            <a:off x="8001000" y="3194156"/>
            <a:ext cx="3171825" cy="1469813"/>
          </a:xfrm>
          <a:prstGeom xmlns:a="http://schemas.openxmlformats.org/drawingml/2006/main" prst="roundRect">
            <a:avLst>
              <a:gd name="adj" fmla="val 480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0941B0-A80B-484D-A112-780AE97A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24150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304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3049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B08EC3-1248-4FA6-AD81-C73D7754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2895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26C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C81"/>
                </a:solidFill>
                <a:latin typeface="Arial"/>
                <a:ea typeface="Arial"/>
                <a:cs typeface="Arial"/>
              </a:rPr>
              <a:t>Invoice, product photo, manual, service log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8E19E1-4BF1-4566-B33A-342EFC09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29025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304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3049"/>
                </a:solidFill>
                <a:latin typeface="Arial"/>
                <a:ea typeface="Arial"/>
                <a:cs typeface="Arial"/>
              </a:rPr>
              <a:t>Reasoning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A003D6-213D-456E-92C6-D536DAA3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33825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26C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C81"/>
                </a:solidFill>
                <a:latin typeface="Arial"/>
                <a:ea typeface="Arial"/>
                <a:cs typeface="Arial"/>
              </a:rPr>
              <a:t>A plain-language explanation for each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D42603-6C86-42FA-B955-AD199ED8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33900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304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3049"/>
                </a:solidFill>
                <a:latin typeface="Arial"/>
                <a:ea typeface="Arial"/>
                <a:cs typeface="Arial"/>
              </a:rPr>
              <a:t>Provenance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AAED58-23D4-42A2-AE30-041C6793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38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26C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C81"/>
                </a:solidFill>
                <a:latin typeface="Arial"/>
                <a:ea typeface="Arial"/>
                <a:cs typeface="Arial"/>
              </a:rPr>
              <a:t>Traceable source record and confidence check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9A3EBF-9F1D-4767-B406-510FD2EC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57875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83049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3049"/>
                </a:solidFill>
                <a:latin typeface="Arial"/>
                <a:ea typeface="Arial"/>
                <a:cs typeface="Arial"/>
              </a:rPr>
              <a:t>Offline mode keeps household data local while the system processes documents and answers questions.</a:t>
            </a:r>
          </a:p>
        </p:txBody>
      </p:sp>
    </p:spTree>
    <p:extLst>
      <p:ext uri="{BB962C8B-B14F-4D97-AF65-F5344CB8AC3E}">
        <p14:creationId xmlns:p14="http://schemas.microsoft.com/office/powerpoint/2010/main" val="12289033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322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178507-4FE6-4A5C-9BEC-DA19AF5B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C2D0DA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C2D0DA"/>
                </a:solidFill>
                <a:latin typeface="Arial"/>
                <a:ea typeface="Arial"/>
                <a:cs typeface="Arial"/>
              </a:rPr>
              <a:t>VERID / HOUSEHOLD INTELLIGENCE 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C8029-04A7-4BB7-9A7C-583D3A00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D7B97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D7B9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E777E2-B900-46C3-8EDF-DA3DA23D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D7B97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7B970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FAA71-00DD-4218-9425-5190A37C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704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Three minutes to show the complete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A00D77-6D81-4806-903F-FA836893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90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681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C2D0D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2D0DA"/>
                </a:solidFill>
                <a:latin typeface="Arial"/>
                <a:ea typeface="Arial"/>
                <a:cs typeface="Arial"/>
              </a:rPr>
              <a:t>The demo makes the product tangible: capture evidence, recognize the appliance, prove the passport, then trigger an 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10CFB-3F13-47F1-AE4B-78CA642B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D7B97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7B9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445275-51B4-44D9-8B93-2EB73106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194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Connect a phone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FEAE6-E72F-4F18-AD62-A3ED39C5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140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C2D0D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C2D0DA"/>
                </a:solidFill>
                <a:latin typeface="Arial"/>
                <a:ea typeface="Arial"/>
                <a:cs typeface="Arial"/>
              </a:rPr>
              <a:t>Scan the local QR bridge and open the live camera, with no app installation.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B6B57D-7D1E-4C6B-85D3-36F8BC9E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8575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72ADC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72ADC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46916F-D27B-46F8-A08A-19EB4957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194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Start a live conversation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E159B8-7114-4769-ABE3-98D7B922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8140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C2D0D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C2D0DA"/>
                </a:solidFill>
                <a:latin typeface="Arial"/>
                <a:ea typeface="Arial"/>
                <a:cs typeface="Arial"/>
              </a:rPr>
              <a:t>The vision assistant reads the scene and uses the home graph to understand what it sees.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DE5972-094E-494C-8B8D-D4BC4BDA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575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C89C4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C89C4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E3F13D-0889-43E4-807C-EC70D25B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194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Inspect the proof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ABEC9E-9733-4C85-87F6-D6C602EF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8140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C2D0D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C2D0DA"/>
                </a:solidFill>
                <a:latin typeface="Arial"/>
                <a:ea typeface="Arial"/>
                <a:cs typeface="Arial"/>
              </a:rPr>
              <a:t>Show the evidence-backed product record, warranty status, and source documents.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10688E-A885-4251-8EDD-AFCCB490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575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84B9A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84B9A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CE0DF0-B6D2-4C5A-8CC2-7AAC798E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1945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Take the next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61F83-E1DA-4D28-A5BA-630EE242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81400"/>
            <a:ext cx="2333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C2D0D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C2D0DA"/>
                </a:solidFill>
                <a:latin typeface="Arial"/>
                <a:ea typeface="Arial"/>
                <a:cs typeface="Arial"/>
              </a:rPr>
              <a:t>Surface a maintenance alert or prepare a complete warranty claim pack.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da1b89547b420b"/>
          <a:srcRect xmlns:a="http://schemas.openxmlformats.org/drawingml/2006/main" l="0" t="473" r="0" b="4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4638675"/>
            <a:ext cx="2905125" cy="1333500"/>
          </a:xfrm>
          <a:prstGeom xmlns:a="http://schemas.openxmlformats.org/drawingml/2006/main" prst="roundRect">
            <a:avLst>
              <a:gd name="adj" fmla="val 11429"/>
            </a:avLst>
          </a:prstGeom>
        </p:spPr>
      </p:pic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fc43b917a341dd"/>
          <a:srcRect xmlns:a="http://schemas.openxmlformats.org/drawingml/2006/main" l="0" t="473" r="0" b="4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57625" y="4638675"/>
            <a:ext cx="2905125" cy="1333500"/>
          </a:xfrm>
          <a:prstGeom xmlns:a="http://schemas.openxmlformats.org/drawingml/2006/main" prst="roundRect">
            <a:avLst>
              <a:gd name="adj" fmla="val 11429"/>
            </a:avLst>
          </a:prstGeom>
        </p:spPr>
      </p:pic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00f6801de4762"/>
          <a:srcRect xmlns:a="http://schemas.openxmlformats.org/drawingml/2006/main" l="0" t="12702" r="0" b="127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62800" y="4638675"/>
            <a:ext cx="3857625" cy="1333500"/>
          </a:xfrm>
          <a:prstGeom xmlns:a="http://schemas.openxmlformats.org/drawingml/2006/main" prst="roundRect">
            <a:avLst>
              <a:gd name="adj" fmla="val 11429"/>
            </a:avLst>
          </a:prstGeom>
        </p:spPr>
      </p:pic>
    </p:spTree>
    <p:extLst>
      <p:ext uri="{BB962C8B-B14F-4D97-AF65-F5344CB8AC3E}">
        <p14:creationId xmlns:p14="http://schemas.microsoft.com/office/powerpoint/2010/main" val="11766499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322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11FCC9-3832-44B6-A57B-9FC00CAE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C2D0DA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C2D0DA"/>
                </a:solidFill>
                <a:latin typeface="Arial"/>
                <a:ea typeface="Arial"/>
                <a:cs typeface="Arial"/>
              </a:rPr>
              <a:t>VERID / HOUSEHOLD INTELLIGENCE 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30C16-2F08-4171-9FFF-0B425320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D7B97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D7B9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AC77FB-6A0F-4971-A738-C863BCBE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5"/>
          </a:solidFill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14e4c086ae42d6"/>
          <a:srcRect xmlns:a="http://schemas.openxmlformats.org/drawingml/2006/main" l="30884" t="0" r="3088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53325" y="809625"/>
            <a:ext cx="3952875" cy="4791075"/>
          </a:xfrm>
          <a:prstGeom xmlns:a="http://schemas.openxmlformats.org/drawingml/2006/main" prst="roundRect">
            <a:avLst>
              <a:gd name="adj" fmla="val 385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55C4C-7313-437C-91B3-C2ABABA0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D7B97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7B970"/>
                </a:solidFill>
                <a:latin typeface="Arial"/>
                <a:ea typeface="Arial"/>
                <a:cs typeface="Arial"/>
              </a:rPr>
              <a:t>WHY VERID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AA0105-98CD-4B2E-BBDD-E6436C50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23925"/>
            <a:ext cx="6286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514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professional household companion</a:t>
            </a:r>
          </a:p>
          <a:p xmlns:a="http://schemas.openxmlformats.org/drawingml/2006/main">
            <a:pPr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the mobile era.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315C5C-30D6-49D9-A09B-7C1645D7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581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C2D0D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C2D0DA"/>
                </a:solidFill>
                <a:latin typeface="Arial"/>
                <a:ea typeface="Arial"/>
                <a:cs typeface="Arial"/>
              </a:rPr>
              <a:t>Verid combines live vision, a household graph, product proof, and private mobile optimization in one working experience.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EA87F6-AD63-442A-96B4-E36685BF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62400"/>
            <a:ext cx="501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97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92055-18DA-43B2-8589-CF5DF9C8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0530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D7B970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D7B970"/>
                </a:solidFill>
                <a:latin typeface="Arial"/>
                <a:ea typeface="Arial"/>
                <a:cs typeface="Arial"/>
              </a:rPr>
              <a:t>Working demo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515FDE-D735-42B5-841C-D291581D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C2D0D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C2D0DA"/>
                </a:solidFill>
                <a:latin typeface="Arial"/>
                <a:ea typeface="Arial"/>
                <a:cs typeface="Arial"/>
              </a:rPr>
              <a:t>Live camera conversation, product proof, attention center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090751-0E18-483C-903D-3B5FAA8A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3053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C89C4B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C89C4B"/>
                </a:solidFill>
                <a:latin typeface="Arial"/>
                <a:ea typeface="Arial"/>
                <a:cs typeface="Arial"/>
              </a:rPr>
              <a:t>Mobile first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543171-8C67-4049-B9B2-17F58B35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7625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C2D0D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C2D0DA"/>
                </a:solidFill>
                <a:latin typeface="Arial"/>
                <a:ea typeface="Arial"/>
                <a:cs typeface="Arial"/>
              </a:rPr>
              <a:t>Optimized experience for an everyday phone 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6FB8D2-E668-4AA8-B9FF-FCC1F517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674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Team Verid / Ready to demonstrate a complete household conversation live</a:t>
            </a:r>
          </a:p>
        </p:txBody>
      </p:sp>
    </p:spTree>
    <p:extLst>
      <p:ext uri="{BB962C8B-B14F-4D97-AF65-F5344CB8AC3E}">
        <p14:creationId xmlns:p14="http://schemas.microsoft.com/office/powerpoint/2010/main" val="6332913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2026-09-06T02:03:39.0050000Z</dcterms:created>
  <dcterms:modified xsi:type="dcterms:W3CDTF">2026-09-06T02:03:39.0050000Z</dcterms:modified>
</coreProperties>
</file>