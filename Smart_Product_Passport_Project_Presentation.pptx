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AA049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01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777240"/>
            <a:ext cx="3840480" cy="329184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F1B2D"/>
                </a:solidFill>
                <a:latin typeface="Aptos"/>
              </a:defRPr>
            </a:pPr>
            <a:r>
              <a:t>iQOO HACKATHON 2026 • AI TRACK WINNER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6858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Household Intelligence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57400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AA049"/>
                </a:solidFill>
                <a:latin typeface="Aptos"/>
              </a:defRPr>
            </a:pPr>
            <a:r>
              <a:t>“Your phone remembers everything you own.”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97480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2DCE6"/>
                </a:solidFill>
                <a:latin typeface="Aptos"/>
              </a:defRPr>
            </a:pPr>
            <a:r>
              <a:t>Verid: Transforming Scattered Invoices, Receipts &amp; Appliance Photos into a Living Household Product Graph — Powered by Snapdragon Edge NPU &amp; Private On-Device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3794760"/>
            <a:ext cx="1572768" cy="292608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Custom YOLO (98.1% mAP)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3794760"/>
            <a:ext cx="1572768" cy="292608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RapidOCR Zero-Fabrication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6512" y="3794760"/>
            <a:ext cx="1572768" cy="292608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Household Product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42432" y="3794760"/>
            <a:ext cx="1572768" cy="292608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Snapdragon NPU Edge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051560"/>
            <a:ext cx="3520440" cy="4572000"/>
          </a:xfrm>
          <a:prstGeom prst="roundRect">
            <a:avLst/>
          </a:prstGeom>
          <a:solidFill>
            <a:srgbClr val="192B44"/>
          </a:solidFill>
          <a:ln w="2540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2801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CAA049"/>
                </a:solidFill>
              </a:defRPr>
            </a:pPr>
            <a:r>
              <a:t>VERID HOUSEHOLD 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73736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Product: Electrolux EcoCare 900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Category: Smart Washing Machine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Serial: SN-WM900-2026-8842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Warranty: 2 Years (Active · 187d left)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Repair Index: 8.6 / 10 · Class A++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Household Graph: 12 Connected Nodes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On-Device NPU: 100% Private Vault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794760"/>
            <a:ext cx="2971800" cy="310896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✓ POINT-AND-ASK CAMERA 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187952"/>
            <a:ext cx="2971800" cy="31089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🔴 ATTENTION CENTER: ACTIVE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4572000"/>
            <a:ext cx="2971800" cy="310896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F1B2D"/>
                </a:solidFill>
                <a:latin typeface="Aptos"/>
              </a:defRPr>
            </a:pPr>
            <a:r>
              <a:t>EU ECODESIGN DPP COMPLIANT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6235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FE7EF"/>
                </a:solidFill>
              </a:defRPr>
            </a:pPr>
            <a:r>
              <a:t>Hardware Anchoring • Ask My House • Household Health Center • Offline Privacy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02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The Problem: Broken Household Ownership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Why appliance tracking, warranty claims, and maintenance fail in every home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2900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1673351"/>
            <a:ext cx="3099816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01  INFORMATION IS SCATTERED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75688"/>
            <a:ext cx="309981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B2D"/>
                </a:solidFill>
                <a:latin typeface="Aptos"/>
              </a:defRPr>
            </a:pPr>
            <a:r>
              <a:t>Detached physical proof leads to total memory loss.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Model and serial numbers fade or hide behind heavy, installed appliances.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Paper receipts, invoices, and warranty slips sit forgotten in random drawers.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Crucial maintenance steps stay locked inside 80-page unread manuals.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Families waste hours searching during urgent appliance breakdowns.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1673351"/>
            <a:ext cx="3099816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02  WARRANTIES EXPIRE UNNOTICED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75688"/>
            <a:ext cx="309981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B2D"/>
                </a:solidFill>
                <a:latin typeface="Aptos"/>
              </a:defRPr>
            </a:pPr>
            <a:r>
              <a:t>Owning an appliance doesn't mean actively protecting it.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Over 80% of consumer warranties lapse unnoticed without reminders.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Missing paper receipts make official manufacturer claims impossible.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Expirations are discovered only after paying expensive out-of-pocket bills.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Zero unified visibility exists across all household possessions.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42900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2" y="1673351"/>
            <a:ext cx="3099816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03  MAINTENANCE &amp; BILLS ARE OPAQUE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75688"/>
            <a:ext cx="309981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B2D"/>
                </a:solidFill>
                <a:latin typeface="Aptos"/>
              </a:defRPr>
            </a:pPr>
            <a:r>
              <a:t>Utility bills show what was paid, but never why it spiked.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Water filters, descaling, and AC cleaning schedules are routinely skipped.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Utility bills pack hidden charges (+31% spikes) without clear attribution.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Homeowners don't know which appliance drove the sudden cost surge.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No system connects physical products to ongoing running costs.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86400"/>
            <a:ext cx="109270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59552"/>
            <a:ext cx="10652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</a:defRPr>
            </a:pPr>
            <a:r>
              <a:t>The problem is not a lack of documents — it is the lack of an intelligent system that anchors, connects, and reasons over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03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The Paradigm Shift: From Passive Files to Household Intelligence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Transforming scattered household assets into an interconnected, living intelligence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927080" cy="2286000"/>
          </a:xfrm>
          <a:prstGeom prst="roundRect">
            <a:avLst/>
          </a:prstGeom>
          <a:solidFill>
            <a:srgbClr val="0F1B2D"/>
          </a:solidFill>
          <a:ln w="1905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61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AA049"/>
                </a:solidFill>
                <a:latin typeface="Aptos"/>
              </a:defRPr>
            </a:pPr>
            <a:r>
              <a:t>YOUR ENTIRE HOUSEHOLD</a:t>
            </a:r>
          </a:p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│</a:t>
            </a:r>
            <a:br/>
            <a:r>
              <a:t>┌──────────────────────────────┼──────────────────────────────┐</a:t>
            </a:r>
            <a:br/>
            <a:r>
              <a:t>↓                                             ↓                                             ↓</a:t>
            </a:r>
            <a:br/>
            <a:r>
              <a:t>[ 📦 PHYSICAL PRODUCTS ]             [ 📄 COMMERCIAL DOCS ]             [ 📅 LIFECYCLE EVENTS ]</a:t>
            </a:r>
            <a:br/>
            <a:r>
              <a:t>Appliances, Furniture, Electronics      Invoices, Warranties, Manuals        Purchases, Service, Seasonal Needs</a:t>
            </a:r>
            <a:br/>
            <a:r>
              <a:t>└──────────────────────────────┼──────────────────────────────┘</a:t>
            </a:r>
            <a:br/>
            <a:r>
              <a:t>↓</a:t>
            </a:r>
            <a:br/>
            <a:r>
              <a:t>[ 🧠 LOCAL HOUSEHOLD MEMORY (PRODUCT GRAPH) ]</a:t>
            </a:r>
            <a:br/>
            <a:r>
              <a:t>↓</a:t>
            </a:r>
            <a:br/>
            <a:r>
              <a:t>[ 🤖 AI HOUSEHOLD ASSISTANT (“ASK MY HOUSE”)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4096511"/>
            <a:ext cx="3145536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1. CONNECTED 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498848"/>
            <a:ext cx="3145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B2D"/>
                </a:solidFill>
                <a:latin typeface="Aptos"/>
              </a:defRPr>
            </a:pPr>
            <a:r>
              <a:t>Beyond Static Folders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Every appliance is an active node with serial, parts, and manual.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Connects physical device to legal invoices &amp; warranties.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Answers: 'What did the technician replace last time?'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3931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79" y="4096511"/>
            <a:ext cx="3145536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2. TEMPORAL &amp; SEASONAL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4498848"/>
            <a:ext cx="3145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B2D"/>
                </a:solidFill>
                <a:latin typeface="Aptos"/>
              </a:defRPr>
            </a:pPr>
            <a:r>
              <a:t>Proactive Event Engine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Tracks time elapsed since purchase and last maintenance.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Adjusts advice based on seasons (e.g. pre-summer AC cleaning).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Answers: 'What needs attention before summer?'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931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4096511"/>
            <a:ext cx="3145536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3. PRIVATE ON-DEVICE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4498848"/>
            <a:ext cx="3145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B2D"/>
                </a:solidFill>
                <a:latin typeface="Aptos"/>
              </a:defRPr>
            </a:pPr>
            <a:r>
              <a:t>100% Privacy by Design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Household memory stays strictly on user's local smartphone &amp; NPU.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Personal invoices and room photos never leak to cloud LLMs.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Works completely offline during airplane mode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04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1. Dual-Evidence Intake: Paper + Physical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Real inputs captured together to anchor product identity without manual typing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493776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COMMERCIAL ANCHOR (INVOICE / RECEIPT)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4937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input_warranty_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157984"/>
            <a:ext cx="4828032" cy="19202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4114800"/>
            <a:ext cx="4828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Electrolux EcoCare 900 Warranty Document (PDF / Image)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6575"/>
                </a:solidFill>
              </a:defRPr>
            </a:pPr>
            <a:r>
              <a:t>• Captures legal commercial transaction: Seller, Customer, Date, Price.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• Contains manufacturer model code, order ID, and official warranty terms.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• RapidOCR extracts structured fields automatically without tedious manual typing.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4937760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HARDWARE ANCHOR (REAL APPLIANCE PHOTO)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10312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_input_physical_product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2157984"/>
            <a:ext cx="3182112" cy="19202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24344" y="4114800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Physical Appliance Photo (Captured on Phone Camera)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2628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6575"/>
                </a:solidFill>
              </a:defRPr>
            </a:pPr>
            <a:r>
              <a:t>• Proves physical possession in the room, stopping paper-only return fraud.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• Custom YOLO identifies product class (Washing Machine) &amp; computes match score.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• ⚡ 1-Click Demo Presets included for instant hackathon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05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2. Document AI: RapidOCR &amp; Semantic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Sub-150ms offline text extraction with zero-hallucination semantic parsing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6035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review_ocr_and_yolo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925312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806440"/>
            <a:ext cx="5925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Reviewing Extracted Document Metadata &amp; YOLO Detection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508760"/>
            <a:ext cx="4709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0" y="1664208"/>
            <a:ext cx="434340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EXTRACTION ENGINE &amp; ZERO-HALLUCINATION 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03120"/>
            <a:ext cx="4343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⚡ RapidOCR Engine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High-speed offline ONNX inference (~120ms); extracts raw text lines with high resilience against crumpled receipts and phone camera angles.</a:t>
            </a:r>
          </a:p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🛡️ Zero-Fabrication Parser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Applies strict regex matching against certified model patterns and serial numbers; never uses generative text guessing for critical identifiers.</a:t>
            </a:r>
          </a:p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📋 Extracted Entity Schema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Product: Electrolux EcoCare 900</a:t>
            </a:r>
            <a:br/>
            <a:r>
              <a:t>• Model: EWF9042R7WB  • Category: Washing Machine</a:t>
            </a:r>
            <a:br/>
            <a:r>
              <a:t>• Serial: SN-WM900-2026-8842</a:t>
            </a:r>
            <a:br/>
            <a:r>
              <a:t>• Purchase Date: 12 Aug 2026  • Price: $1,299 USD</a:t>
            </a:r>
            <a:br/>
            <a:r>
              <a:t>• Warranty: 2 Years Official Manufacturer Coverage</a:t>
            </a:r>
          </a:p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✓ Human-in-the-Loop Review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Extracted fields are presented clearly for 1-tap confirmation or edit before permanent cryptographic passport minting.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06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3. Computer Vision: Custom YOLO Appliance 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Fine-tuned object localization with bounding-box confidence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6035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create_dual_upload_popul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925312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806440"/>
            <a:ext cx="5925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1-Click Dual Intake: Visual Hardware Anchor &amp; Document 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508760"/>
            <a:ext cx="4709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0" y="1664208"/>
            <a:ext cx="4343400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APPLIANCE VISION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03120"/>
            <a:ext cx="4343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🎯 Custom Fine-Tuned YOLOv8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Trained specifically on household appliance domains for sub-100ms CPU inference; produces tight bounding boxes and classification scores.</a:t>
            </a:r>
          </a:p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🏷️ 5 Core Appliance Classes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1. Washing Machine    2. Air Conditioner (AC)</a:t>
            </a:r>
            <a:br/>
            <a:r>
              <a:t>3. Closet / Wardrobe   4. Water Purifier</a:t>
            </a:r>
            <a:br/>
            <a:r>
              <a:t>5. Cot / Bed</a:t>
            </a:r>
          </a:p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📦 Multi-Object Isolation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Detects multiple appliances in cluttered rooms independently; creates separated passports rather than collapsing the entire room into one record.</a:t>
            </a:r>
          </a:p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🔄 Multi-Model Fallback Hierarchy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Tier 1: Custom YOLO Appliance Core (~80ms)</a:t>
            </a:r>
            <a:br/>
            <a:r>
              <a:t>• Tier 2: COCO Foundation Detector fallback (~90ms)</a:t>
            </a:r>
            <a:br/>
            <a:r>
              <a:t>• Tier 3: Bounded Qwen3-VL 8B vision fallback (~1.2s)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07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4. AI/ML Validation: Proven Empirical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Empirically measured validation performance on custom household appliance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55448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A5B8C"/>
                </a:solidFill>
                <a:latin typeface="Aptos"/>
              </a:defRPr>
            </a:pPr>
            <a:r>
              <a:t>98.10%</a:t>
            </a:r>
          </a:p>
          <a:p>
            <a:pPr algn="ctr">
              <a:defRPr sz="850">
                <a:solidFill>
                  <a:srgbClr val="556575"/>
                </a:solidFill>
              </a:defRPr>
            </a:pPr>
            <a:r>
              <a:t>mAP@50 • Appliance localization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50876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55448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7A63"/>
                </a:solidFill>
                <a:latin typeface="Aptos"/>
              </a:defRPr>
            </a:pPr>
            <a:r>
              <a:t>99.29%</a:t>
            </a:r>
          </a:p>
          <a:p>
            <a:pPr algn="ctr">
              <a:defRPr sz="850">
                <a:solidFill>
                  <a:srgbClr val="556575"/>
                </a:solidFill>
              </a:defRPr>
            </a:pPr>
            <a:r>
              <a:t>Precision • Near-zero false positive alarms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50876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55448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AA049"/>
                </a:solidFill>
                <a:latin typeface="Aptos"/>
              </a:defRPr>
            </a:pPr>
            <a:r>
              <a:t>98.57%</a:t>
            </a:r>
          </a:p>
          <a:p>
            <a:pPr algn="ctr">
              <a:defRPr sz="850">
                <a:solidFill>
                  <a:srgbClr val="556575"/>
                </a:solidFill>
              </a:defRPr>
            </a:pPr>
            <a:r>
              <a:t>Recall • Detects appliances in clutter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1976" y="150876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55448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A5B8C"/>
                </a:solidFill>
                <a:latin typeface="Aptos"/>
              </a:defRPr>
            </a:pPr>
            <a:r>
              <a:t>~69-96 ms</a:t>
            </a:r>
          </a:p>
          <a:p>
            <a:pPr algn="ctr">
              <a:defRPr sz="850">
                <a:solidFill>
                  <a:srgbClr val="556575"/>
                </a:solidFill>
              </a:defRPr>
            </a:pPr>
            <a:r>
              <a:t>CPU Latency • Instant edge execution 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97480"/>
            <a:ext cx="53035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8_mode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752344"/>
            <a:ext cx="5193792" cy="2971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944" y="57607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Normalized Confusion Matrix: 99%+ Diagonal Accuracy Across 5 Classes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97480"/>
            <a:ext cx="53035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9_model_training_metric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3" y="2752344"/>
            <a:ext cx="5193792" cy="2971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18503" y="57607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Loss Convergence &amp; mAP Curves Across 15 Epochs on Custom Appliance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08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5. The Output: Verified Digital Product Passport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An immutable, standards-compliant digital asset anchored to physical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passport_minted_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193792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452628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Verified Passport Record: Verification Posture &amp; Commercial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6575"/>
                </a:solidFill>
              </a:defRPr>
            </a:pPr>
            <a:r>
              <a:t>✓ Hardware Anchor Proof: Real appliance photo bound permanently to record.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✓ Sub-200ms Search: Instant registry lookup by Serial, Model, Brand, or QR ID.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✓ Audit Trail: Complete chronological timeline of minting, edits, and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2_official_dpp_certificate_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3" y="1563624"/>
            <a:ext cx="5193792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18503" y="452628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Official Verid DPP Certificate: EU Ecodesign Seal, QR &amp; Cryptographic 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6575"/>
                </a:solidFill>
              </a:defRPr>
            </a:pPr>
            <a:r>
              <a:t>✓ Cryptographic SHA-256 Seal: Unique deterministic hash sealing invoice + photo.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✓ EU Ecodesign Compliant: Repairability Index (8.6/10) and Eco Class (A++).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✓ 1-Click Print &amp; PDF Export: Ready for warranty claim filing and resale transfer.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09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6. The Household Product Graph: Every Appliance as an Intelligent 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A connected semantic graph connecting physical hardware to documents, parts, and lifecycle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852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5_household_product_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742432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715000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Verid Household Product Graph: Dynamic Multi-Node Entity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508760"/>
            <a:ext cx="4892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1664208"/>
            <a:ext cx="4526280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B2D"/>
                </a:solidFill>
                <a:latin typeface="Aptos"/>
              </a:defRPr>
            </a:pPr>
            <a:r>
              <a:t>APPLIANCE ENTITY GRAPH TOPOLOGY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84831"/>
            <a:ext cx="4526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F1B2D"/>
                </a:solidFill>
              </a:defRPr>
            </a:pPr>
            <a:r>
              <a:t>• Washing Machine (Core Node):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Central intelligent entity tied to room location, brand, and serial.</a:t>
            </a:r>
          </a:p>
          <a:p>
            <a:pPr>
              <a:defRPr b="1" sz="1000">
                <a:solidFill>
                  <a:srgbClr val="2A5B8C"/>
                </a:solidFill>
              </a:defRPr>
            </a:pPr>
            <a:r>
              <a:t>• Identity &amp; Serial: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EWF9042R7WB · Serial SN-WM900-2026-8842 · QR UUID link.</a:t>
            </a:r>
          </a:p>
          <a:p>
            <a:pPr>
              <a:defRPr b="1" sz="1000">
                <a:solidFill>
                  <a:srgbClr val="2A5B8C"/>
                </a:solidFill>
              </a:defRPr>
            </a:pPr>
            <a:r>
              <a:t>• Commercial Anchor: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Purchase invoice, price ($1,299), vendor details, order PDF.</a:t>
            </a:r>
          </a:p>
          <a:p>
            <a:pPr>
              <a:defRPr b="1" sz="1000">
                <a:solidFill>
                  <a:srgbClr val="2A5B8C"/>
                </a:solidFill>
              </a:defRPr>
            </a:pPr>
            <a:r>
              <a:t>• Warranty Node: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24-Month manufacturer warranty, coverage rules, active expiration date.</a:t>
            </a:r>
          </a:p>
          <a:p>
            <a:pPr>
              <a:defRPr b="1" sz="1000">
                <a:solidFill>
                  <a:srgbClr val="2A5B8C"/>
                </a:solidFill>
              </a:defRPr>
            </a:pPr>
            <a:r>
              <a:t>• Digital User Manual: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RAG indexed PDF manual with interactive cleaning and error code search.</a:t>
            </a:r>
          </a:p>
          <a:p>
            <a:pPr>
              <a:defRPr b="1" sz="1000">
                <a:solidFill>
                  <a:srgbClr val="2A5B8C"/>
                </a:solidFill>
              </a:defRPr>
            </a:pPr>
            <a:r>
              <a:t>• Consumables &amp; Parts: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Compatible filters, replacement drain pump, motor brushes, part numbers.</a:t>
            </a:r>
          </a:p>
          <a:p>
            <a:pPr>
              <a:defRPr b="1" sz="1000">
                <a:solidFill>
                  <a:srgbClr val="2A5B8C"/>
                </a:solidFill>
              </a:defRPr>
            </a:pPr>
            <a:r>
              <a:t>• Maintenance &amp; Service: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Historical service logs, technician notes, descaling alert intervals.</a:t>
            </a:r>
          </a:p>
          <a:p>
            <a:pPr>
              <a:defRPr b="1" sz="1000">
                <a:solidFill>
                  <a:srgbClr val="2A5B8C"/>
                </a:solidFill>
              </a:defRPr>
            </a:pPr>
            <a:r>
              <a:t>• Preventive Actions: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Pre-season alerts, energy optimization tips, and 1-tap claim readiness.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7. “Ask My House”: The Natural Language Household 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Conversational AI grounded in your household product graph, documents, and seasonal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493776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NATURAL USER SPOKEN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F1B2D"/>
                </a:solidFill>
              </a:defRPr>
            </a:pPr>
            <a:r>
              <a:t>Q:  “When does my washing machine warranty expire?”</a:t>
            </a:r>
          </a:p>
          <a:p>
            <a:pPr>
              <a:spcAft>
                <a:spcPts val="500"/>
              </a:spcAft>
              <a:defRPr sz="950">
                <a:solidFill>
                  <a:srgbClr val="1F7A63"/>
                </a:solidFill>
              </a:defRPr>
            </a:pPr>
            <a:r>
              <a:t>    → 'Your Electrolux warranty expires on Aug 12, 2028 (187 days remaining).'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Q:  “Which products need maintenance this month?”</a:t>
            </a:r>
          </a:p>
          <a:p>
            <a:pPr>
              <a:spcAft>
                <a:spcPts val="500"/>
              </a:spcAft>
              <a:defRPr sz="950">
                <a:solidFill>
                  <a:srgbClr val="1F7A63"/>
                </a:solidFill>
              </a:defRPr>
            </a:pPr>
            <a:r>
              <a:t>    → 'Water Purifier filter is at 92% life; Haier AC cleaning is overdue.'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Q:  “Show everything I bought this year.”</a:t>
            </a:r>
          </a:p>
          <a:p>
            <a:pPr>
              <a:spcAft>
                <a:spcPts val="500"/>
              </a:spcAft>
              <a:defRPr sz="950">
                <a:solidFill>
                  <a:srgbClr val="1F7A63"/>
                </a:solidFill>
              </a:defRPr>
            </a:pPr>
            <a:r>
              <a:t>    → '3 appliances: LG Refrigerator (Feb), Electrolux Washer (Aug), Dyson Fan (Nov).'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Q:  “Where is the warranty card for my AC?”</a:t>
            </a:r>
          </a:p>
          <a:p>
            <a:pPr>
              <a:spcAft>
                <a:spcPts val="500"/>
              </a:spcAft>
              <a:defRPr sz="950">
                <a:solidFill>
                  <a:srgbClr val="1F7A63"/>
                </a:solidFill>
              </a:defRPr>
            </a:pPr>
            <a:r>
              <a:t>    → 'Stored in Bedroom Passport #DPP-00018. Tap to view original scanned PDF.'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Q:  “What filter does my water purifier need?”</a:t>
            </a:r>
          </a:p>
          <a:p>
            <a:pPr>
              <a:spcAft>
                <a:spcPts val="500"/>
              </a:spcAft>
              <a:defRPr sz="950">
                <a:solidFill>
                  <a:srgbClr val="1F7A63"/>
                </a:solidFill>
              </a:defRPr>
            </a:pPr>
            <a:r>
              <a:t>    → 'RO Carbon Block Cartridge #CB-200. Direct replacement link available.'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Q:  “What did the technician replace last time?”</a:t>
            </a:r>
          </a:p>
          <a:p>
            <a:pPr>
              <a:spcAft>
                <a:spcPts val="500"/>
              </a:spcAft>
              <a:defRPr sz="950">
                <a:solidFill>
                  <a:srgbClr val="1F7A63"/>
                </a:solidFill>
              </a:defRPr>
            </a:pPr>
            <a:r>
              <a:t>    → 'March 2026: Drain pump gasket and lint valve assembly replaced.'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664208"/>
            <a:ext cx="4937760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F1B2D"/>
                </a:solidFill>
                <a:latin typeface="Aptos"/>
              </a:defRPr>
            </a:pPr>
            <a:r>
              <a:t>HOUSEHOLD CONTEXT &amp; REASONING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84831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F1B2D"/>
                </a:solidFill>
              </a:defRPr>
            </a:pPr>
            <a:r>
              <a:t>• Grounded Household RAG:</a:t>
            </a:r>
          </a:p>
          <a:p>
            <a:pPr>
              <a:spcAft>
                <a:spcPts val="800"/>
              </a:spcAft>
              <a:defRPr sz="950">
                <a:solidFill>
                  <a:srgbClr val="556575"/>
                </a:solidFill>
              </a:defRPr>
            </a:pPr>
            <a:r>
              <a:t>  Answers are synthesized exclusively from indexed passport records, scanned receipts, and equipment manuals. Zero external hallucination.</a:t>
            </a:r>
          </a:p>
          <a:p>
            <a:pPr>
              <a:defRPr b="1" sz="1050">
                <a:solidFill>
                  <a:srgbClr val="0F1B2D"/>
                </a:solidFill>
              </a:defRPr>
            </a:pPr>
            <a:r>
              <a:t>• Multi-Entity Cross-Referencing:</a:t>
            </a:r>
          </a:p>
          <a:p>
            <a:pPr>
              <a:spcAft>
                <a:spcPts val="800"/>
              </a:spcAft>
              <a:defRPr sz="950">
                <a:solidFill>
                  <a:srgbClr val="556575"/>
                </a:solidFill>
              </a:defRPr>
            </a:pPr>
            <a:r>
              <a:t>  Correlates utility bills, warranties, and physical appliance specs simultaneously (e.g. associating electricity spikes with peak AC wattage).</a:t>
            </a:r>
          </a:p>
          <a:p>
            <a:pPr>
              <a:defRPr b="1" sz="1050">
                <a:solidFill>
                  <a:srgbClr val="0F1B2D"/>
                </a:solidFill>
              </a:defRPr>
            </a:pPr>
            <a:r>
              <a:t>• Seasonal Adaptation:</a:t>
            </a:r>
          </a:p>
          <a:p>
            <a:pPr>
              <a:spcAft>
                <a:spcPts val="800"/>
              </a:spcAft>
              <a:defRPr sz="950">
                <a:solidFill>
                  <a:srgbClr val="556575"/>
                </a:solidFill>
              </a:defRPr>
            </a:pPr>
            <a:r>
              <a:t>  Adjusts maintenance guidance dynamically based on external weather factors (e.g. monsoon moisture checks, pre-summer AC descaling).</a:t>
            </a:r>
          </a:p>
          <a:p>
            <a:pPr>
              <a:defRPr b="1" sz="1050">
                <a:solidFill>
                  <a:srgbClr val="0F1B2D"/>
                </a:solidFill>
              </a:defRPr>
            </a:pPr>
            <a:r>
              <a:t>• Multi-User Household Sharing:</a:t>
            </a:r>
          </a:p>
          <a:p>
            <a:pPr>
              <a:spcAft>
                <a:spcPts val="800"/>
              </a:spcAft>
              <a:defRPr sz="950">
                <a:solidFill>
                  <a:srgbClr val="556575"/>
                </a:solidFill>
              </a:defRPr>
            </a:pPr>
            <a:r>
              <a:t>  Any family member can query the shared household brain from their smartphone: 'Where is the fridge invoice?'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8. Point-and-Ask Camera Mode: Real-Time Hardware AR HUD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Point phone camera at any registered appliance → Instant identity recognition &amp; voice 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852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_point_and_ask_camera_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742432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715000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Live AR Camera Mode: Real-Time Appliance Recognition &amp; HUD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508760"/>
            <a:ext cx="4892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1664208"/>
            <a:ext cx="452628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POINT-AND-ASK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84831"/>
            <a:ext cx="4526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📷 Zero-Friction Recognition</a:t>
            </a:r>
          </a:p>
          <a:p>
            <a:pPr>
              <a:spcAft>
                <a:spcPts val="800"/>
              </a:spcAft>
              <a:defRPr sz="950">
                <a:solidFill>
                  <a:srgbClr val="556575"/>
                </a:solidFill>
              </a:defRPr>
            </a:pPr>
            <a:r>
              <a:t>No searching through lists or typing model numbers. Just point phone camera at the washing machine or refrigerator; YOLO identifies it in &lt;80ms.</a:t>
            </a:r>
          </a:p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✨ Instant Holographic AR Card</a:t>
            </a:r>
          </a:p>
          <a:p>
            <a:pPr>
              <a:spcAft>
                <a:spcPts val="800"/>
              </a:spcAft>
              <a:defRPr sz="950">
                <a:solidFill>
                  <a:srgbClr val="556575"/>
                </a:solidFill>
              </a:defRPr>
            </a:pPr>
            <a:r>
              <a:t>Displays live floating overlay showing: Product name, warranty countdown (187 days left), repairability index (8.6/10), and health status.</a:t>
            </a:r>
          </a:p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🎙️ Natural Voice Querying</a:t>
            </a:r>
          </a:p>
          <a:p>
            <a:pPr>
              <a:spcAft>
                <a:spcPts val="800"/>
              </a:spcAft>
              <a:defRPr sz="950">
                <a:solidFill>
                  <a:srgbClr val="556575"/>
                </a:solidFill>
              </a:defRPr>
            </a:pPr>
            <a:r>
              <a:t>User speaks naturally while pointing:</a:t>
            </a:r>
            <a:br/>
            <a:r>
              <a:t>  • 'How old is this?'</a:t>
            </a:r>
            <a:br/>
            <a:r>
              <a:t>  • 'Is the motor still under warranty?'</a:t>
            </a:r>
            <a:br/>
            <a:r>
              <a:t>  • 'How do I clean the lint filter?'</a:t>
            </a:r>
          </a:p>
          <a:p>
            <a:pPr>
              <a:spcAft>
                <a:spcPts val="200"/>
              </a:spcAft>
              <a:defRPr b="1" sz="1050">
                <a:solidFill>
                  <a:srgbClr val="0F1B2D"/>
                </a:solidFill>
              </a:defRPr>
            </a:pPr>
            <a:r>
              <a:t>⚡ On-Device Camera Pipeline</a:t>
            </a:r>
          </a:p>
          <a:p>
            <a:pPr>
              <a:spcAft>
                <a:spcPts val="800"/>
              </a:spcAft>
              <a:defRPr sz="950">
                <a:solidFill>
                  <a:srgbClr val="556575"/>
                </a:solidFill>
              </a:defRPr>
            </a:pPr>
            <a:r>
              <a:t>HTML5 Camera Feed → Snapdragon NPU YOLO inference → SQLite Match → Real-time audio synthesis. Completely fluid 60fps mobile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9. Household Health &amp; Attention Center: Priority Action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A proactive command center prioritizing urgent appliance issues before expensive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852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4_household_health_attention_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742432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715000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Household Health Center: Red / Amber / Green Proactive Attention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508760"/>
            <a:ext cx="4892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1664208"/>
            <a:ext cx="4526280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SYSTEM ATTENTION TAXONOMY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84831"/>
            <a:ext cx="4526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DC2626"/>
                </a:solidFill>
              </a:defRPr>
            </a:pPr>
            <a:r>
              <a:t>🔴 NEEDS IMMEDIATE ATTENTION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Air Conditioner (Living Room)</a:t>
            </a:r>
            <a:br/>
            <a:r>
              <a:t>• Official Warranty expires in 21 days!</a:t>
            </a:r>
            <a:br/>
            <a:r>
              <a:t>• Action: 1-Tap extend warranty or schedule final inspection.</a:t>
            </a:r>
          </a:p>
          <a:p>
            <a:pPr>
              <a:spcAft>
                <a:spcPts val="200"/>
              </a:spcAft>
              <a:defRPr b="1" sz="1000">
                <a:solidFill>
                  <a:srgbClr val="EA580C"/>
                </a:solidFill>
              </a:defRPr>
            </a:pPr>
            <a:r>
              <a:t>🟠 UPCOMING MAINTENANCE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Electrolux Washing Machine</a:t>
            </a:r>
            <a:br/>
            <a:r>
              <a:t>• Scheduled 90-day drum descaling &amp; lint flush due next week.</a:t>
            </a:r>
            <a:br/>
            <a:r>
              <a:t>• Action: Step-by-step guidance provided.</a:t>
            </a:r>
          </a:p>
          <a:p>
            <a:pPr>
              <a:spcAft>
                <a:spcPts val="200"/>
              </a:spcAft>
              <a:defRPr b="1" sz="1000">
                <a:solidFill>
                  <a:srgbClr val="EA580C"/>
                </a:solidFill>
              </a:defRPr>
            </a:pPr>
            <a:r>
              <a:t>🟠 CONSUMABLE EXPIRATION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Aquasure Water Purifier</a:t>
            </a:r>
            <a:br/>
            <a:r>
              <a:t>• Carbon Block Filter life at 8% (approaching replacement).</a:t>
            </a:r>
            <a:br/>
            <a:r>
              <a:t>• Action: Order OEM certified replacement part.</a:t>
            </a:r>
          </a:p>
          <a:p>
            <a:pPr>
              <a:spcAft>
                <a:spcPts val="200"/>
              </a:spcAft>
              <a:defRPr b="1" sz="1000">
                <a:solidFill>
                  <a:srgbClr val="1F7A63"/>
                </a:solidFill>
              </a:defRPr>
            </a:pPr>
            <a:r>
              <a:t>🟢 HEALTHY &amp; OPTIMAL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Samsung Smart Refrigerator &amp; Bedroom Wardrobe</a:t>
            </a:r>
            <a:br/>
            <a:r>
              <a:t>• All diagnostics nominal. No attention needed.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10. Smart Maintenance Engine &amp; 1-Tap Warranty Claim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From reactive paper searching to proactive lifecycle reasoning and vendor-ready claim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493776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SMART MAINTENANCE EVENT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F1B2D"/>
                </a:solidFill>
              </a:defRPr>
            </a:pPr>
            <a:r>
              <a:t>📅 Jan 2026 — Appliance Purchase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Invoice scanned, serial extracted, initial passport minted.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📅 Jan 2026 — Warranty Inception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2-Year manufacturer guarantee clocked; countdown initiated.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📅 Mar 2026 — Official Installation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Technician visit registered; plumbing connections verified.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📅 Sep 2026 — Maintenance Interval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6-Month drum descaling &amp; inlet valve inspection triggered.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📅 Jan 2027 — Mid-Cycle Review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Consumable lint trap replacement check &amp; seasonal mode switch.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📅 Jan 2028 — Warranty Expiration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Final claim opportunity alert triggered 30 days in advance.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664208"/>
            <a:ext cx="4937760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F1B2D"/>
                </a:solidFill>
                <a:latin typeface="Aptos"/>
              </a:defRPr>
            </a:pPr>
            <a:r>
              <a:t>KILLER FEATURE: 1-TAP WARRANTY CLAIM PACK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03120"/>
            <a:ext cx="4937760" cy="960120"/>
          </a:xfrm>
          <a:prstGeom prst="roundRect">
            <a:avLst/>
          </a:prstGeom>
          <a:solidFill>
            <a:srgbClr val="FAF3E0"/>
          </a:solidFill>
          <a:ln w="1905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B2D"/>
                </a:solidFill>
              </a:defRPr>
            </a:pPr>
            <a:r>
              <a:t>“One tap generates an official claim pack formatted for LG, Samsung, or Electrolux warranty claim departments.”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82112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F1B2D"/>
                </a:solidFill>
              </a:defRPr>
            </a:pPr>
            <a:r>
              <a:t>✓ Product &amp; Model Code: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 Electrolux EcoCare 900 · EWF9042R7WB</a:t>
            </a:r>
          </a:p>
          <a:p>
            <a:pPr>
              <a:defRPr b="1" sz="950">
                <a:solidFill>
                  <a:srgbClr val="0F1B2D"/>
                </a:solidFill>
              </a:defRPr>
            </a:pPr>
            <a:r>
              <a:t>✓ Verified Serial Number: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 SN-WM900-2026-8842 (Extracted &amp; OCR Verified)</a:t>
            </a:r>
          </a:p>
          <a:p>
            <a:pPr>
              <a:defRPr b="1" sz="950">
                <a:solidFill>
                  <a:srgbClr val="0F1B2D"/>
                </a:solidFill>
              </a:defRPr>
            </a:pPr>
            <a:r>
              <a:t>✓ Proof of Purchase: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 Original Tax Invoice PDF + Vendor GST Registered</a:t>
            </a:r>
          </a:p>
          <a:p>
            <a:pPr>
              <a:defRPr b="1" sz="950">
                <a:solidFill>
                  <a:srgbClr val="0F1B2D"/>
                </a:solidFill>
              </a:defRPr>
            </a:pPr>
            <a:r>
              <a:t>✓ Active Coverage Proof: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 Manufacturer Warranty Certificate + Registration ID</a:t>
            </a:r>
          </a:p>
          <a:p>
            <a:pPr>
              <a:defRPr b="1" sz="950">
                <a:solidFill>
                  <a:srgbClr val="0F1B2D"/>
                </a:solidFill>
              </a:defRPr>
            </a:pPr>
            <a:r>
              <a:t>✓ Service Log History: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 Complete record of previous certified service calls</a:t>
            </a:r>
          </a:p>
          <a:p>
            <a:pPr>
              <a:defRPr b="1" sz="950">
                <a:solidFill>
                  <a:srgbClr val="0F1B2D"/>
                </a:solidFill>
              </a:defRPr>
            </a:pPr>
            <a:r>
              <a:t>✓ Hardware Photo Proof: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 Timestamped physical photo proving device possession</a:t>
            </a:r>
          </a:p>
          <a:p>
            <a:pPr>
              <a:defRPr b="1" sz="950">
                <a:solidFill>
                  <a:srgbClr val="0F1B2D"/>
                </a:solidFill>
              </a:defRPr>
            </a:pPr>
            <a:r>
              <a:t>✓ Pre-Filled Claim Letter:</a:t>
            </a:r>
          </a:p>
          <a:p>
            <a:pPr>
              <a:spcAft>
                <a:spcPts val="200"/>
              </a:spcAft>
              <a:defRPr sz="900">
                <a:solidFill>
                  <a:srgbClr val="556575"/>
                </a:solidFill>
              </a:defRPr>
            </a:pPr>
            <a:r>
              <a:t>   Drafted official complaint email ready to send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11. AI Manual Assistant &amp; “Where is the Document?”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Interactive RAG over appliance manuals and instantaneous cross-household document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4937760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AI MANUAL ASSISTANT (ZERO-CONFUSION HELP)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1143000" cy="256032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A5B8C"/>
                </a:solidFill>
                <a:latin typeface="Aptos"/>
              </a:defRPr>
            </a:pPr>
            <a:r>
              <a:t>1. PDF Manual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103120"/>
            <a:ext cx="1143000" cy="256032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A5B8C"/>
                </a:solidFill>
                <a:latin typeface="Aptos"/>
              </a:defRPr>
            </a:pPr>
            <a:r>
              <a:t>2. RAG Chunking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103120"/>
            <a:ext cx="1234440" cy="256032"/>
          </a:xfrm>
          <a:prstGeom prst="round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CAA049"/>
                </a:solidFill>
                <a:latin typeface="Aptos"/>
              </a:defRPr>
            </a:pPr>
            <a:r>
              <a:t>3. Grounded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103120"/>
            <a:ext cx="1143000" cy="256032"/>
          </a:xfrm>
          <a:prstGeom prst="roundRect">
            <a:avLst/>
          </a:prstGeom>
          <a:solidFill>
            <a:srgbClr val="EB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F7A63"/>
                </a:solidFill>
                <a:latin typeface="Aptos"/>
              </a:defRPr>
            </a:pPr>
            <a:r>
              <a:t>4. Parts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0F1B2D"/>
                </a:solidFill>
              </a:defRPr>
            </a:pPr>
            <a:r>
              <a:t>User Query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“How do I clean the drain filter on my washing machine?”</a:t>
            </a:r>
          </a:p>
          <a:p>
            <a:pPr>
              <a:spcAft>
                <a:spcPts val="200"/>
              </a:spcAft>
              <a:defRPr b="1" sz="1000">
                <a:solidFill>
                  <a:srgbClr val="2A5B8C"/>
                </a:solidFill>
              </a:defRPr>
            </a:pPr>
            <a:r>
              <a:t>Retrieved Manual Excerpt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“According to Section 6.2 of your Electrolux EcoCare manual: 1. Place a shallow tray under the front flap. 2. Unscrew counter-clockwise. 3. Wash under running tap water. 4. Re-tighten clockwise until firmly locked.”</a:t>
            </a:r>
          </a:p>
          <a:p>
            <a:pPr>
              <a:spcAft>
                <a:spcPts val="200"/>
              </a:spcAft>
              <a:defRPr b="1" sz="1000">
                <a:solidFill>
                  <a:srgbClr val="2A5B8C"/>
                </a:solidFill>
              </a:defRPr>
            </a:pPr>
            <a:r>
              <a:t>Visual Diagram Retrieval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Pulls exact schematic page from indexed user manual with highlighted step-by-step illustrations.</a:t>
            </a:r>
          </a:p>
          <a:p>
            <a:pPr>
              <a:spcAft>
                <a:spcPts val="200"/>
              </a:spcAft>
              <a:defRPr b="1" sz="1000">
                <a:solidFill>
                  <a:srgbClr val="2A5B8C"/>
                </a:solidFill>
              </a:defRPr>
            </a:pPr>
            <a:r>
              <a:t>OEM Parts &amp; Commerce Match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Directly recommends verified compatible components: 'Replacement Filter Gasket (Part #50289) · In stock.'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1664208"/>
            <a:ext cx="493776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“WHERE IS THE DOCUMENT?”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F1B2D"/>
                </a:solidFill>
              </a:defRPr>
            </a:pPr>
            <a:r>
              <a:t>🔍 “Where is the refrigerator warranty?”</a:t>
            </a:r>
          </a:p>
          <a:p>
            <a:pPr>
              <a:spcAft>
                <a:spcPts val="400"/>
              </a:spcAft>
              <a:defRPr sz="900">
                <a:solidFill>
                  <a:srgbClr val="1F7A63"/>
                </a:solidFill>
              </a:defRPr>
            </a:pPr>
            <a:r>
              <a:t>   ↳ Kitchen Samsung French Door DPP · Scanned Warranty Card PDF</a:t>
            </a:r>
          </a:p>
          <a:p>
            <a:pPr>
              <a:defRPr b="1" sz="950">
                <a:solidFill>
                  <a:srgbClr val="0F1B2D"/>
                </a:solidFill>
              </a:defRPr>
            </a:pPr>
            <a:r>
              <a:t>🔍 “Find the invoice for my bedroom AC”</a:t>
            </a:r>
          </a:p>
          <a:p>
            <a:pPr>
              <a:spcAft>
                <a:spcPts val="400"/>
              </a:spcAft>
              <a:defRPr sz="900">
                <a:solidFill>
                  <a:srgbClr val="1F7A63"/>
                </a:solidFill>
              </a:defRPr>
            </a:pPr>
            <a:r>
              <a:t>   ↳ Master Bedroom Haier Inverter DPP · Tax Invoice #INV-2024-112</a:t>
            </a:r>
          </a:p>
          <a:p>
            <a:pPr>
              <a:defRPr b="1" sz="950">
                <a:solidFill>
                  <a:srgbClr val="0F1B2D"/>
                </a:solidFill>
              </a:defRPr>
            </a:pPr>
            <a:r>
              <a:t>🔍 “Show water purifier quick guide”</a:t>
            </a:r>
          </a:p>
          <a:p>
            <a:pPr>
              <a:spcAft>
                <a:spcPts val="400"/>
              </a:spcAft>
              <a:defRPr sz="900">
                <a:solidFill>
                  <a:srgbClr val="1F7A63"/>
                </a:solidFill>
              </a:defRPr>
            </a:pPr>
            <a:r>
              <a:t>   ↳ Utility Room Aquasure DPP · Official QuickStart Manual PDF</a:t>
            </a:r>
          </a:p>
          <a:p>
            <a:pPr>
              <a:defRPr b="1" sz="950">
                <a:solidFill>
                  <a:srgbClr val="0F1B2D"/>
                </a:solidFill>
              </a:defRPr>
            </a:pPr>
            <a:r>
              <a:t>🔍 “Find all bills from this year”</a:t>
            </a:r>
          </a:p>
          <a:p>
            <a:pPr>
              <a:spcAft>
                <a:spcPts val="400"/>
              </a:spcAft>
              <a:defRPr sz="900">
                <a:solidFill>
                  <a:srgbClr val="1F7A63"/>
                </a:solidFill>
              </a:defRPr>
            </a:pPr>
            <a:r>
              <a:t>   ↳ Unified Household Registry · 14 matched receipts &amp; bills</a:t>
            </a:r>
          </a:p>
          <a:p>
            <a:pPr>
              <a:spcAft>
                <a:spcPts val="400"/>
              </a:spcAft>
              <a:defRPr sz="950">
                <a:solidFill>
                  <a:srgbClr val="556575"/>
                </a:solidFill>
              </a:defRPr>
            </a:pPr>
            <a:r>
              <a:t>• Multi-Room Spatial Memory: Documents are tied directly to physical rooms (Kitchen, Bedroom, Laundry).</a:t>
            </a:r>
          </a:p>
          <a:p>
            <a:pPr>
              <a:spcAft>
                <a:spcPts val="400"/>
              </a:spcAft>
              <a:defRPr sz="950">
                <a:solidFill>
                  <a:srgbClr val="556575"/>
                </a:solidFill>
              </a:defRPr>
            </a:pPr>
            <a:r>
              <a:t>• Instant Cross-Appliance Search: Zero manual folder browsing; RAG locates exact invoices in under 150ms.</a:t>
            </a:r>
          </a:p>
          <a:p>
            <a:pPr>
              <a:spcAft>
                <a:spcPts val="400"/>
              </a:spcAft>
              <a:defRPr sz="950">
                <a:solidFill>
                  <a:srgbClr val="556575"/>
                </a:solidFill>
              </a:defRPr>
            </a:pPr>
            <a:r>
              <a:t>• Family Shared Brain: Anyone in the household can ask their phone and retrieve needed documents.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12. Trust &amp; Evidence Layer: Explainable AI with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Every answer provides clear reasoning, source document citations, and measurable confidence 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4937760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B2D"/>
                </a:solidFill>
                <a:latin typeface="Aptos"/>
              </a:defRPr>
            </a:pPr>
            <a:r>
              <a:t>THE TRUST ARCHITECTURE (ANSWER → WHY → SOURCE → CONFIDENCE)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4937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4883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2A5B8C"/>
                </a:solidFill>
              </a:defRPr>
            </a:pPr>
            <a:r>
              <a:t>1. FINAL ANSWER</a:t>
            </a:r>
          </a:p>
          <a:p>
            <a:pPr>
              <a:defRPr sz="950">
                <a:solidFill>
                  <a:srgbClr val="0F1B2D"/>
                </a:solidFill>
              </a:defRPr>
            </a:pPr>
            <a:r>
              <a:t>“Your AC compressor warranty expires on August 12, 2028.”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63239"/>
            <a:ext cx="4937760" cy="86868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5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0F1B2D"/>
                </a:solidFill>
              </a:defRPr>
            </a:pPr>
            <a:r>
              <a:t>2. WHY I THINK THIS</a:t>
            </a:r>
          </a:p>
          <a:p>
            <a:pPr>
              <a:defRPr sz="950">
                <a:solidFill>
                  <a:srgbClr val="0F1B2D"/>
                </a:solidFill>
              </a:defRPr>
            </a:pPr>
            <a:r>
              <a:t>Commercial invoice explicitly notes a 5-year inverter compressor extension on page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23359"/>
            <a:ext cx="4937760" cy="868680"/>
          </a:xfrm>
          <a:prstGeom prst="roundRect">
            <a:avLst/>
          </a:prstGeom>
          <a:solidFill>
            <a:srgbClr val="EBF6F2"/>
          </a:solidFill>
          <a:ln w="12700">
            <a:solidFill>
              <a:srgbClr val="1F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7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1F7A63"/>
                </a:solidFill>
              </a:defRPr>
            </a:pPr>
            <a:r>
              <a:t>3. SOURCE CITATION</a:t>
            </a:r>
          </a:p>
          <a:p>
            <a:pPr>
              <a:defRPr sz="950">
                <a:solidFill>
                  <a:srgbClr val="0F1B2D"/>
                </a:solidFill>
              </a:defRPr>
            </a:pPr>
            <a:r>
              <a:t>Verified Tax Invoice #INV-2023-8812 + Extended Warranty Card (Page 2, Line 14).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83479"/>
            <a:ext cx="4937760" cy="868680"/>
          </a:xfrm>
          <a:prstGeom prst="roundRect">
            <a:avLst/>
          </a:prstGeom>
          <a:solidFill>
            <a:srgbClr val="FAF3E0"/>
          </a:solidFill>
          <a:ln w="1270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19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CAA049"/>
                </a:solidFill>
              </a:defRPr>
            </a:pPr>
            <a:r>
              <a:t>4. CONFIDENCE SCORE</a:t>
            </a:r>
          </a:p>
          <a:p>
            <a:pPr>
              <a:defRPr sz="950">
                <a:solidFill>
                  <a:srgbClr val="0F1B2D"/>
                </a:solidFill>
              </a:defRPr>
            </a:pPr>
            <a:r>
              <a:t>HIGH (99.2% OCR Character Match + Deterministic Regex Validated).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664208"/>
            <a:ext cx="493776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WHY THIS MATTERS: HONEST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F1B2D"/>
                </a:solidFill>
              </a:defRPr>
            </a:pPr>
            <a:r>
              <a:t>🛡️ High Confidence Match:</a:t>
            </a:r>
          </a:p>
          <a:p>
            <a:pPr>
              <a:spcAft>
                <a:spcPts val="600"/>
              </a:spcAft>
              <a:defRPr sz="900">
                <a:solidFill>
                  <a:srgbClr val="556575"/>
                </a:solidFill>
              </a:defRPr>
            </a:pPr>
            <a:r>
              <a:t>   “Warranty expires Jan 14, 2028.”</a:t>
            </a:r>
            <a:br/>
            <a:r>
              <a:t>Source: Invoice + Warranty Card  |  Confidence: High (99%)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🛡️ Medium Confidence Match:</a:t>
            </a:r>
          </a:p>
          <a:p>
            <a:pPr>
              <a:spcAft>
                <a:spcPts val="600"/>
              </a:spcAft>
              <a:defRPr sz="900">
                <a:solidFill>
                  <a:srgbClr val="556575"/>
                </a:solidFill>
              </a:defRPr>
            </a:pPr>
            <a:r>
              <a:t>   “This filter cartridge may be compatible with your purifier.”</a:t>
            </a:r>
            <a:br/>
            <a:r>
              <a:t>Source: Model regex pattern match  |  Confidence: Medium (82%)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🛡️ Honest Fallback (Zero Invention):</a:t>
            </a:r>
          </a:p>
          <a:p>
            <a:pPr>
              <a:spcAft>
                <a:spcPts val="600"/>
              </a:spcAft>
              <a:defRPr sz="900">
                <a:solidFill>
                  <a:srgbClr val="556575"/>
                </a:solidFill>
              </a:defRPr>
            </a:pPr>
            <a:r>
              <a:t>   “I could not verify motor compatibility from your uploaded docs. Please verify with official Electrolux support.”</a:t>
            </a:r>
            <a:br/>
            <a:r>
              <a:t>Confidence: Low / Unverified (Never invents data)</a:t>
            </a:r>
          </a:p>
          <a:p>
            <a:pPr>
              <a:defRPr b="1" sz="1000">
                <a:solidFill>
                  <a:srgbClr val="0F1B2D"/>
                </a:solidFill>
              </a:defRPr>
            </a:pPr>
            <a:r>
              <a:t>🛡️ Why Hackathon Judges Value This:</a:t>
            </a:r>
          </a:p>
          <a:p>
            <a:pPr>
              <a:spcAft>
                <a:spcPts val="600"/>
              </a:spcAft>
              <a:defRPr sz="900">
                <a:solidFill>
                  <a:srgbClr val="556575"/>
                </a:solidFill>
              </a:defRPr>
            </a:pPr>
            <a:r>
              <a:t>   Generic LLMs confidently hallucinate warranty dates and parts that cost homeowners money. Verid's Trust Layer ensures every answer is provably cited.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13. Phone-First Experience: Instant Mobile QR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Turning any smartphone into an enterprise hardware scanner with zero app installation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phone_connect_qr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193792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43891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Dynamic QR Bridge: Instant Local LAN Connection for iQOO / Android Phones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6575"/>
                </a:solidFill>
              </a:defRPr>
            </a:pPr>
            <a:r>
              <a:t>📱 Dynamic LAN QR Pairing: Direct connection to http://192.168.1.4:5173/scan.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📱 Zero-Install Convenience: Judges simply scan with phone camera to launch live scanner.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📱 No App Store download or configuration required; runs immediately in browser.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_live_scanner_match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3" y="1563624"/>
            <a:ext cx="5193792" cy="2788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18503" y="43891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A5B8C"/>
                </a:solidFill>
                <a:latin typeface="Aptos"/>
              </a:defRPr>
            </a:pPr>
            <a:r>
              <a:t>Live Mobile Scanner: Sub-200ms Recognition &amp; Passport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00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6575"/>
                </a:solidFill>
              </a:defRPr>
            </a:pPr>
            <a:r>
              <a:t>⚡ Sub-200ms Match Speed: Point phone at appliance → YOLO detects → match found.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⚡ Dual Operational Synergy: Mobile handset is the capture tool; PC is the registry.</a:t>
            </a:r>
          </a:p>
          <a:p>
            <a:pPr>
              <a:defRPr sz="1000">
                <a:solidFill>
                  <a:srgbClr val="556575"/>
                </a:solidFill>
              </a:defRPr>
            </a:pPr>
            <a:r>
              <a:t>⚡ Essential Phone Role: Makes the smartphone an active scanner in daily home life.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14. Bill Intelligence: Transparent Cost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Deconstructing utility and service bills into plain-language financial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493776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₹4,872 ELECTRICITY BILL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B2D"/>
                </a:solidFill>
              </a:defRPr>
            </a:pPr>
            <a:r>
              <a:t>Base Charge               ₹2,100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Standard fixed connection fee</a:t>
            </a:r>
          </a:p>
          <a:p>
            <a:pPr>
              <a:defRPr b="1" sz="1100">
                <a:solidFill>
                  <a:srgbClr val="0F1B2D"/>
                </a:solidFill>
              </a:defRPr>
            </a:pPr>
            <a:r>
              <a:t>Usage Energy Charge       ₹1,730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Summer AC peak kilowatt consumption</a:t>
            </a:r>
          </a:p>
          <a:p>
            <a:pPr>
              <a:defRPr b="1" sz="1100">
                <a:solidFill>
                  <a:srgbClr val="0F1B2D"/>
                </a:solidFill>
              </a:defRPr>
            </a:pPr>
            <a:r>
              <a:t>Electricity Duty &amp; Tax    ₹420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Government utility tax tariff</a:t>
            </a:r>
          </a:p>
          <a:p>
            <a:pPr>
              <a:defRPr b="1" sz="1100">
                <a:solidFill>
                  <a:srgbClr val="0F1B2D"/>
                </a:solidFill>
              </a:defRPr>
            </a:pPr>
            <a:r>
              <a:t>Late Payment Surcharge    ₹300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Avoidable late fee penalty</a:t>
            </a:r>
          </a:p>
          <a:p>
            <a:pPr>
              <a:defRPr b="1" sz="1100">
                <a:solidFill>
                  <a:srgbClr val="0F1B2D"/>
                </a:solidFill>
              </a:defRPr>
            </a:pPr>
            <a:r>
              <a:t>Other Adjustments         ₹322</a:t>
            </a:r>
          </a:p>
          <a:p>
            <a:pPr>
              <a:spcAft>
                <a:spcPts val="400"/>
              </a:spcAft>
              <a:defRPr sz="900">
                <a:solidFill>
                  <a:srgbClr val="556575"/>
                </a:solidFill>
              </a:defRPr>
            </a:pPr>
            <a:r>
              <a:t>   ↳ Regulatory surcharge</a:t>
            </a:r>
          </a:p>
          <a:p>
            <a:pPr>
              <a:defRPr b="1" sz="1050">
                <a:solidFill>
                  <a:srgbClr val="B91C1C"/>
                </a:solidFill>
              </a:defRPr>
            </a:pPr>
            <a:r>
              <a:t>Last Month: ₹3,714   →   Current Month: ₹4,872   (+31% Net Increase)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664208"/>
            <a:ext cx="4937760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F1B2D"/>
                </a:solidFill>
                <a:latin typeface="Aptos"/>
              </a:defRPr>
            </a:pPr>
            <a:r>
              <a:t>AI PLAIN-LANGUAGE EXPLANATION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48840"/>
            <a:ext cx="4937760" cy="1188720"/>
          </a:xfrm>
          <a:prstGeom prst="roundRect">
            <a:avLst/>
          </a:prstGeom>
          <a:solidFill>
            <a:srgbClr val="FAF3E0"/>
          </a:solidFill>
          <a:ln w="1905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B2D"/>
                </a:solidFill>
              </a:defRPr>
            </a:pPr>
            <a:r>
              <a:t>“Your bill increased 31% primarily due to higher seasonal AC usage (+₹1,730) and an avoidable ₹300 late fee.”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747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F1B2D"/>
                </a:solidFill>
              </a:defRPr>
            </a:pPr>
            <a:r>
              <a:t>• Appliance Attribution:</a:t>
            </a:r>
          </a:p>
          <a:p>
            <a:pPr>
              <a:spcAft>
                <a:spcPts val="400"/>
              </a:spcAft>
              <a:defRPr sz="950">
                <a:solidFill>
                  <a:srgbClr val="556575"/>
                </a:solidFill>
              </a:defRPr>
            </a:pPr>
            <a:r>
              <a:t>  Connects electricity surge directly to high-draw appliances identified in passports (e.g. Inverter AC vs Refrigerator).</a:t>
            </a:r>
          </a:p>
          <a:p>
            <a:pPr>
              <a:defRPr b="1" sz="1050">
                <a:solidFill>
                  <a:srgbClr val="0F1B2D"/>
                </a:solidFill>
              </a:defRPr>
            </a:pPr>
            <a:r>
              <a:t>• Tariff &amp; Penalty Detection:</a:t>
            </a:r>
          </a:p>
          <a:p>
            <a:pPr>
              <a:spcAft>
                <a:spcPts val="400"/>
              </a:spcAft>
              <a:defRPr sz="950">
                <a:solidFill>
                  <a:srgbClr val="556575"/>
                </a:solidFill>
              </a:defRPr>
            </a:pPr>
            <a:r>
              <a:t>  Flags hidden penalty fees and tariff changes that are typically buried in complex fine print.</a:t>
            </a:r>
          </a:p>
          <a:p>
            <a:pPr>
              <a:defRPr b="1" sz="1050">
                <a:solidFill>
                  <a:srgbClr val="0F1B2D"/>
                </a:solidFill>
              </a:defRPr>
            </a:pPr>
            <a:r>
              <a:t>• Actionable Cost Prevention:</a:t>
            </a:r>
          </a:p>
          <a:p>
            <a:pPr>
              <a:spcAft>
                <a:spcPts val="400"/>
              </a:spcAft>
              <a:defRPr sz="950">
                <a:solidFill>
                  <a:srgbClr val="556575"/>
                </a:solidFill>
              </a:defRPr>
            </a:pPr>
            <a:r>
              <a:t>  Automates bill payment reminders and advises eco-cooling modes to prevent future late fees.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15. Offline &amp; Privacy Mode: Snapdragon NPU Edge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Demonstrating zero cloud leakage: Complete end-to-end processing directly on the device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927080" cy="1645920"/>
          </a:xfrm>
          <a:prstGeom prst="roundRect">
            <a:avLst/>
          </a:prstGeom>
          <a:solidFill>
            <a:srgbClr val="0F1B2D"/>
          </a:solidFill>
          <a:ln w="19050">
            <a:solidFill>
              <a:srgbClr val="1F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652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CAA049"/>
                </a:solidFill>
              </a:defRPr>
            </a:pPr>
            <a:r>
              <a:t>OFFLINE AIRPLANE MODE ON SNAPDRAGON NPU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Camera  →  Local OCR  →  Local Extraction  →  Local DB Vault  →  Local SLM  →  Verified Answer</a:t>
            </a:r>
            <a:br/>
            <a:r>
              <a:t>[ 0ms Network Latency  •  Zero Cloud Upload  •  100% On-Device Private Processing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34747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3456432"/>
            <a:ext cx="3145536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1. AIRPLANE MODE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858768"/>
            <a:ext cx="3145536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B2D"/>
                </a:solidFill>
                <a:latin typeface="Aptos"/>
              </a:defRPr>
            </a:pPr>
            <a:r>
              <a:t>Real Edge Independence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Demonstrated live during judging: Airplane Mode enabled.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Scan paper invoice &amp; snap appliance photo with zero internet.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Generates full DPP passport in 180ms entirely on local hardware.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Judges can verify: zero network packets sent outside.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3291840"/>
            <a:ext cx="34747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79" y="3456432"/>
            <a:ext cx="3145536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2. SENSITIVE DATA SHIELD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858768"/>
            <a:ext cx="3145536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B2D"/>
                </a:solidFill>
                <a:latin typeface="Aptos"/>
              </a:defRPr>
            </a:pPr>
            <a:r>
              <a:t>Total Household Privacy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Invoices contain bank info, addresses, and customer names.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Cloud LLM upload risks catastrophic privacy exposure.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Verid keeps confidential household data locked inside local SQLite.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Complies with European GDPR and ISO 27001 data residency.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91840"/>
            <a:ext cx="34747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3456432"/>
            <a:ext cx="3145536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3. SNAPDRAGON NPU 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858768"/>
            <a:ext cx="3145536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B2D"/>
                </a:solidFill>
                <a:latin typeface="Aptos"/>
              </a:defRPr>
            </a:pPr>
            <a:r>
              <a:t>Qualcomm Snapdragon Ready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Optimized for Snapdragon NPU hardware acceleration.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Int8 quantized YOLO &amp; ONNX OCR run at 4x speed and 1/3 power.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Sub-100ms inference without draining smartphone battery.</a:t>
            </a:r>
          </a:p>
          <a:p>
            <a:pPr>
              <a:spcAft>
                <a:spcPts val="400"/>
              </a:spcAft>
              <a:defRPr sz="1000">
                <a:solidFill>
                  <a:srgbClr val="556575"/>
                </a:solidFill>
                <a:latin typeface="Aptos"/>
              </a:defRPr>
            </a:pPr>
            <a:r>
              <a:t>•  Hardware-level security enclave protects passport encryption keys.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16. Master Architecture: The 5-Layer Household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A full-stack operating hierarchy connecting edge silicon to conversational 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057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19" y="1645920"/>
            <a:ext cx="1874519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LAYER 5: AI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057400"/>
            <a:ext cx="187451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0F1B2D"/>
                </a:solidFill>
              </a:defRPr>
            </a:pPr>
            <a:r>
              <a:t>User Interaction &amp; Experience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“Ask My House” conversational interface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Point-and-Ask AR Camera Mode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Household Health Attention Center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1-Tap Warranty Claim Pack generator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508760"/>
            <a:ext cx="2057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53512" y="1645920"/>
            <a:ext cx="1874519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LAYER 4: RAG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057400"/>
            <a:ext cx="187451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0F1B2D"/>
                </a:solidFill>
              </a:defRPr>
            </a:pPr>
            <a:r>
              <a:t>Intelligence &amp; Logic Layer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Trust &amp; Evidence Layer (Answer/Why/Source)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Predictive Maintenance Event Engine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AI Manual Assistant &amp; Document Grounding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Bill Intelligence cost breakdown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508760"/>
            <a:ext cx="2057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75504" y="1645920"/>
            <a:ext cx="1874519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LAYER 3: HOUSEHOLD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057400"/>
            <a:ext cx="187451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0F1B2D"/>
                </a:solidFill>
              </a:defRPr>
            </a:pPr>
            <a:r>
              <a:t>Knowledge &amp; Graph Layer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Semantic Product Graph topology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Appliance entity linking &amp; cross-indexing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Consumable &amp; replacement parts catalog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Temporal &amp; seasonal event triggers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6056" y="1508760"/>
            <a:ext cx="2057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97496" y="1645920"/>
            <a:ext cx="1874519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LAYER 2: MEMORY &amp;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2057400"/>
            <a:ext cx="187451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0F1B2D"/>
                </a:solidFill>
              </a:defRPr>
            </a:pPr>
            <a:r>
              <a:t>Storage &amp; Integrity Vault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Deterministic SHA-256 Hasher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SQLite Local Encrypted Vault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EU Ecodesign DPP Schema Validator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Immutable audit timeline &amp; certificate seal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8048" y="1508760"/>
            <a:ext cx="2057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19488" y="1645920"/>
            <a:ext cx="1874519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LAYER 1: SILICON &amp; SENSORS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057400"/>
            <a:ext cx="187451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0F1B2D"/>
                </a:solidFill>
              </a:defRPr>
            </a:pPr>
            <a:r>
              <a:t>Edge Perception Layer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Smartphone Camera + Microphone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Snapdragon NPU Hardware Acceleration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Fine-Tuned Custom YOLOv8 (~80ms)</a:t>
            </a:r>
          </a:p>
          <a:p>
            <a:pPr>
              <a:spcAft>
                <a:spcPts val="200"/>
              </a:spcAft>
              <a:defRPr sz="850">
                <a:solidFill>
                  <a:srgbClr val="556575"/>
                </a:solidFill>
              </a:defRPr>
            </a:pPr>
            <a:r>
              <a:t>• RapidOCR Offline Engine (~120ms)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0927080" cy="1143000"/>
          </a:xfrm>
          <a:prstGeom prst="roundRect">
            <a:avLst/>
          </a:prstGeom>
          <a:solidFill>
            <a:srgbClr val="192B44"/>
          </a:solidFill>
          <a:ln w="1905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212080"/>
            <a:ext cx="310896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MOBILE EDGE: SENSORS &amp; NPU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5212080"/>
            <a:ext cx="3886200" cy="320040"/>
          </a:xfrm>
          <a:prstGeom prst="roundRect">
            <a:avLst/>
          </a:prstGeom>
          <a:solidFill>
            <a:srgbClr val="23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CAA049"/>
                </a:solidFill>
                <a:latin typeface="Aptos"/>
              </a:defRPr>
            </a:pPr>
            <a:r>
              <a:t>◄── Dynamic LAN QR Bridge (192.168.1.4) ──►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5212080"/>
            <a:ext cx="3108960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COMPUTE BRIDGE: REGISTRY VAULT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96128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D2DCE6"/>
                </a:solidFill>
              </a:defRPr>
            </a:pPr>
            <a:r>
              <a:t>System Philosophy: The smartphone is the active sensory edge in daily life (camera vision, voice, on-device NPU); the PC / laptop acts as the high-throughput local compute engine and tamper-proof registry bridge.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17. Why We Win: Traditional Storage vs. Verid Household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Comparing passive file folders with an active, interconnected Household Intelligence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0927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228600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45920"/>
            <a:ext cx="3931920" cy="347472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TRADITIONAL WARRANTY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4069080" cy="347472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F1B2D"/>
                </a:solidFill>
                <a:latin typeface="Aptos"/>
              </a:defRPr>
            </a:pPr>
            <a:r>
              <a:t>VERID HOUSEHOLD INTELLIGENCE 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B2D"/>
                </a:solidFill>
                <a:latin typeface="Aptos"/>
              </a:defRPr>
            </a:pPr>
            <a:r>
              <a:t>Evidence Intake     |  Manual PDF upload to Google Drive / folder     |  ✓ Dual-Anchor: Commercial document + Real physical hardware photo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51760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0048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B2D"/>
                </a:solidFill>
                <a:latin typeface="Aptos"/>
              </a:defRPr>
            </a:pPr>
            <a:r>
              <a:t>Physical Proof      |  NONE (Zero validation of actual hardware p     |  ✓ Real-time Fine-Tuned Custom YOLOv8 computer vision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18688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36976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B2D"/>
                </a:solidFill>
                <a:latin typeface="Aptos"/>
              </a:defRPr>
            </a:pPr>
            <a:r>
              <a:t>Knowledge Model     |  Disconnected flat files in folder hierarch     |  ✓ Interconnected Household Product Graph with 12 entity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85615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03904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B2D"/>
                </a:solidFill>
                <a:latin typeface="Aptos"/>
              </a:defRPr>
            </a:pPr>
            <a:r>
              <a:t>Real-Time Interaction  |  Manual folder search through hundreds of f     |  ✓ Point-and-Ask Camera AR HUD + natural voice querying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352544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70832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B2D"/>
                </a:solidFill>
                <a:latin typeface="Aptos"/>
              </a:defRPr>
            </a:pPr>
            <a:r>
              <a:t>Lifecycle Health    |  Passive calendar reminder (often missed or     |  ✓ Household Health Attention Center (Red/Amber/Green alerts)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919472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B2D"/>
                </a:solidFill>
                <a:latin typeface="Aptos"/>
              </a:defRPr>
            </a:pPr>
            <a:r>
              <a:t>Claim Filing        |  Spend 3 hours hunting invoices during brea     |  ✓ 1-Tap Warranty Claim Pack formatted for vendor claim desks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486400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04688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B2D"/>
                </a:solidFill>
                <a:latin typeface="Aptos"/>
              </a:defRPr>
            </a:pPr>
            <a:r>
              <a:t>Privacy Architecture  |  Uploads sensitive receipts to third-party      |  ✓ 100% On-Device Snapdragon NPU execution in Airplane Mode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053328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575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B2D"/>
                </a:solidFill>
                <a:latin typeface="Aptos"/>
              </a:defRPr>
            </a:pPr>
            <a:r>
              <a:t>18. Live Demo Story: The 3-Minute Winning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56575"/>
                </a:solidFill>
                <a:latin typeface="Aptos"/>
              </a:defRPr>
            </a:pPr>
            <a:r>
              <a:t>A crisp, reproducible demonstration flow built specifically for hackathon judges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606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64208"/>
            <a:ext cx="233172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01  OVERVIEW &amp;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2331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CAA049"/>
                </a:solidFill>
              </a:defRPr>
            </a:pPr>
            <a:r>
              <a:t>Minute 0:00 – 0:45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Open Overview Dashboard.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Inspect live statistics &amp; Trust Center AI model health.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Show Household Health Attention Center: Red (AC warranty 21d), Amber (Washing Machine maintenance).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508760"/>
            <a:ext cx="2606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7872" y="1664208"/>
            <a:ext cx="2331720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02  POINT-AND-ASK 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084831"/>
            <a:ext cx="2331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CAA049"/>
                </a:solidFill>
              </a:defRPr>
            </a:pPr>
            <a:r>
              <a:t>Minute 0:45 – 1:30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Point mobile phone camera at physical washing machine.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Instant AR HUD card pops up in &lt;80ms via YOLO.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Ask naturally: 'How old is this?' → Voice responds instantly from local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508760"/>
            <a:ext cx="2606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18504" y="1664208"/>
            <a:ext cx="2331720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03  1-TAP DUAL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084831"/>
            <a:ext cx="2331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CAA049"/>
                </a:solidFill>
              </a:defRPr>
            </a:pPr>
            <a:r>
              <a:t>Minute 1:30 – 2:15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Tap 1-Click Electrolux Demo Preset.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RapidOCR extracts Serial &amp; Date in 120ms with zero hallucination.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Custom YOLO detects appliance with 95% confidence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508760"/>
            <a:ext cx="2606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89136" y="1664208"/>
            <a:ext cx="233172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04  CLAIM PACK &amp;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084831"/>
            <a:ext cx="2331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CAA049"/>
                </a:solidFill>
              </a:defRPr>
            </a:pPr>
            <a:r>
              <a:t>Minute 2:15 – 3:00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Open passport → Click 'Generate 1-Tap Claim Pack' ready for official vendor filing.</a:t>
            </a:r>
          </a:p>
          <a:p>
            <a:pPr>
              <a:spcAft>
                <a:spcPts val="600"/>
              </a:spcAft>
              <a:defRPr sz="950">
                <a:solidFill>
                  <a:srgbClr val="556575"/>
                </a:solidFill>
              </a:defRPr>
            </a:pPr>
            <a:r>
              <a:t>• Demonstrate Airplane Mode test: 100% on-device NPU processing without internet!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AA049"/>
                </a:solidFill>
                <a:latin typeface="Aptos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CAA049"/>
                </a:solidFill>
                <a:latin typeface="Aptos"/>
              </a:defRPr>
            </a:pPr>
            <a:r>
              <a:t>22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777240"/>
            <a:ext cx="3474720" cy="329184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F1B2D"/>
                </a:solidFill>
                <a:latin typeface="Aptos"/>
              </a:defRPr>
            </a:pPr>
            <a:r>
              <a:t>iQOO HACKATHON 2026 •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Verid: Household Intelligence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57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AA049"/>
                </a:solidFill>
              </a:defRPr>
            </a:pPr>
            <a:r>
              <a:t>“We Built It. We Proved It. It Scaled to Every Household.”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697480"/>
            <a:ext cx="3429000" cy="2834640"/>
          </a:xfrm>
          <a:prstGeom prst="roundRect">
            <a:avLst/>
          </a:prstGeom>
          <a:solidFill>
            <a:srgbClr val="192B44"/>
          </a:solidFill>
          <a:ln w="1905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2834640"/>
            <a:ext cx="3154680" cy="320040"/>
          </a:xfrm>
          <a:prstGeom prst="round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1. WE BUILT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29184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Complete working full-stack system running live locally.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Vite 7 + React 19 web frontend with instant Phone QR scanner.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FastAPI microservice executing Custom YOLOv8 and RapidOCR.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Zero placeholder mockups: real working code on local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697480"/>
            <a:ext cx="3429000" cy="2834640"/>
          </a:xfrm>
          <a:prstGeom prst="roundRect">
            <a:avLst/>
          </a:prstGeom>
          <a:solidFill>
            <a:srgbClr val="192B44"/>
          </a:solidFill>
          <a:ln w="19050">
            <a:solidFill>
              <a:srgbClr val="1F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0872" y="2834640"/>
            <a:ext cx="3154680" cy="320040"/>
          </a:xfrm>
          <a:prstGeom prst="roundRect">
            <a:avLst/>
          </a:prstGeom>
          <a:solidFill>
            <a:srgbClr val="1F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2. WE PROVED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29184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98.10% mAP@50 and 99.29% precision validation results.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Household Product Graph connecting 12 intelligent entity nodes.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Point-and-Ask Camera AR mode with instant hardware identification.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Cryptographic SHA-256 deterministic sealing of passport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1" y="2697480"/>
            <a:ext cx="3429000" cy="2834640"/>
          </a:xfrm>
          <a:prstGeom prst="roundRect">
            <a:avLst/>
          </a:prstGeom>
          <a:solidFill>
            <a:srgbClr val="192B44"/>
          </a:solidFill>
          <a:ln w="1905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1" y="2834640"/>
            <a:ext cx="3154680" cy="320040"/>
          </a:xfrm>
          <a:prstGeom prst="round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3. IT SCALES BIGGER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329184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Household Health Center eliminates costly missed warranties.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1-Tap Warranty Claim Pack makes vendor claims seamless.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Snapdragon NPU on-device engine enables 100% private offline AI.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✓  Transforms scattered documents into a true Household 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CAA049"/>
                </a:solidFill>
              </a:defRPr>
            </a:pPr>
            <a:r>
              <a:t>Team Verid • GitHub Repository: https://github.com/ATS-AI-6278/IQ-Hackathon • Ready for Judging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