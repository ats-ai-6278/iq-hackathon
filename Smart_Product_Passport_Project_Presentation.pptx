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CAA049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01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868680"/>
            <a:ext cx="3108960" cy="329184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0F1B2D"/>
                </a:solidFill>
                <a:latin typeface="Aptos"/>
              </a:defRPr>
            </a:pPr>
            <a:r>
              <a:t>iQOO HACKATHON 2026 • AI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53312"/>
            <a:ext cx="6858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"/>
              </a:defRPr>
            </a:pPr>
            <a:r>
              <a:t>Smart Product Passport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94560"/>
            <a:ext cx="6766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2DCE6"/>
                </a:solidFill>
                <a:latin typeface="Aptos"/>
              </a:defRPr>
            </a:pPr>
            <a:r>
              <a:t>Verid: Transforming Scattered Household Evidence into Living Digital Identity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16352"/>
            <a:ext cx="6583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CAA049"/>
                </a:solidFill>
                <a:latin typeface="Aptos"/>
              </a:defRPr>
            </a:pPr>
            <a:r>
              <a:t>Commercial Evidence (Invoice / Warranty Card) + Physical Hardware Proof (Appliance Photo) → Computer Vision &amp; RapidOCR Verification → Living Digital Product Passport &amp; Private AI House Memory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3794760"/>
            <a:ext cx="1572768" cy="292608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Custom YOLOv8 (98.1% mAP)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92" y="3794760"/>
            <a:ext cx="1572768" cy="292608"/>
          </a:xfrm>
          <a:prstGeom prst="roundRect">
            <a:avLst/>
          </a:prstGeom>
          <a:solidFill>
            <a:srgbClr val="1F7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RapidOCR Zero-Fabrication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96512" y="3794760"/>
            <a:ext cx="1572768" cy="292608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Bounded Qwen3-VL 8B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42432" y="3794760"/>
            <a:ext cx="1572768" cy="292608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Private AI House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1051560"/>
            <a:ext cx="3520440" cy="4572000"/>
          </a:xfrm>
          <a:prstGeom prst="roundRect">
            <a:avLst/>
          </a:prstGeom>
          <a:solidFill>
            <a:srgbClr val="192B44"/>
          </a:solidFill>
          <a:ln w="25400">
            <a:solidFill>
              <a:srgbClr val="CAA0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280160"/>
            <a:ext cx="2971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CAA049"/>
                </a:solidFill>
              </a:defRPr>
            </a:pPr>
            <a:r>
              <a:t>VERID DPP REGISTRY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1737360"/>
            <a:ext cx="2971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Product: Electrolux EcoCare 900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Category: Washing Machine (YOLO)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Serial: SN-WM900-2026-8842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Warranty: 2 Years (Active)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Repair Index: 8.6 / 10 · Class A++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Deterministic Hash: 0x4d50502d...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Anchor: Hardware Photo Linked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3794760"/>
            <a:ext cx="2971800" cy="310896"/>
          </a:xfrm>
          <a:prstGeom prst="roundRect">
            <a:avLst/>
          </a:prstGeom>
          <a:solidFill>
            <a:srgbClr val="1F7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✓ PHYSICALLY VERIFIED BY YOLO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4187952"/>
            <a:ext cx="2971800" cy="310896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📱 PHONE SCANNER CONNECTED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9" y="4572000"/>
            <a:ext cx="2971800" cy="310896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F1B2D"/>
                </a:solidFill>
                <a:latin typeface="Aptos"/>
              </a:defRPr>
            </a:pPr>
            <a:r>
              <a:t>EU ECODESIGN DPP COMPLIANT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62356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FE7EF"/>
                </a:solidFill>
              </a:defRPr>
            </a:pPr>
            <a:r>
              <a:t>AI-Powered Product Identity • Real Hardware Anchoring • Warranty Shield • Bill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02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The Problem: Broken Ownership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Why household asset management and warranty tracking fails in every home today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342900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1" y="1673351"/>
            <a:ext cx="3099816" cy="320040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01  INFORMATION IS LOST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075688"/>
            <a:ext cx="3099816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F1B2D"/>
                </a:solidFill>
                <a:latin typeface="Aptos"/>
              </a:defRPr>
            </a:pPr>
            <a:r>
              <a:t>Product information is scattered across detached physical sources.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Model and serial numbers fade or hide behind heavy appliances.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Paper receipts, bills, and warranty cards sit forgotten in random drawers.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Warranty terms and conditions remain buried inside unread manuals.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Users spend hours searching through old paperwork during unexpected breakdowns.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08760"/>
            <a:ext cx="342900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3712" y="1673351"/>
            <a:ext cx="3099816" cy="320040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02  WARRANTY IS MISSED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075688"/>
            <a:ext cx="3099816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F1B2D"/>
                </a:solidFill>
                <a:latin typeface="Aptos"/>
              </a:defRPr>
            </a:pPr>
            <a:r>
              <a:t>Owning an appliance does not mean actively managing its warranty.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Over 80% of consumer warranties lapse unnoticed without owner reminders.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Misplaced purchase receipts make official claims impossible with vendors.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Coverage expirations are discovered only after paying for avoidable repairs.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Zero centralized visibility exists across all household products.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08760"/>
            <a:ext cx="342900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02752" y="1673351"/>
            <a:ext cx="3099816" cy="320040"/>
          </a:xfrm>
          <a:prstGeom prst="roundRect">
            <a:avLst/>
          </a:prstGeom>
          <a:solidFill>
            <a:srgbClr val="1F7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03  BILLS &amp; COSTS ARE OPAQUE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075688"/>
            <a:ext cx="3099816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F1B2D"/>
                </a:solidFill>
                <a:latin typeface="Aptos"/>
              </a:defRPr>
            </a:pPr>
            <a:r>
              <a:t>A utility bill shows how much was paid, but never why it jumped.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Bills pack multiple hidden charges, taxes, and peak tariffs.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Sudden monthly spikes (e.g. +31%) lack clear appliance attribution.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Late penalty fees and billing anomalies slip through unnoticed.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No intelligent system connects physical appliances to running costs.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86400"/>
            <a:ext cx="109270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AA0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59552"/>
            <a:ext cx="10652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F1B2D"/>
                </a:solidFill>
              </a:defRPr>
            </a:pPr>
            <a:r>
              <a:t>The problem is not a lack of documents — it is the lack of an intelligent system that anchors, connects, and explains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03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Our Solution: The Verid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Turning real-world evidence into verified, living digital product passports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927080" cy="777240"/>
          </a:xfrm>
          <a:prstGeom prst="roundRect">
            <a:avLst/>
          </a:prstGeom>
          <a:solidFill>
            <a:srgbClr val="0F1B2D"/>
          </a:solidFill>
          <a:ln w="19050">
            <a:solidFill>
              <a:srgbClr val="CAA0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527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AA049"/>
                </a:solidFill>
              </a:defRPr>
            </a:pPr>
            <a:r>
              <a:t>[ Commercial Evidence: Invoice / Warranty PDF ]  +  [ Physical Evidence: Hardware Appliance Photo ]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↳ Verified by Computer Vision &amp; RapidOCR  →  [ Living Digital Product Passport 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23160"/>
            <a:ext cx="1719072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19" y="2514600"/>
            <a:ext cx="1536192" cy="292608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SCAN PRODUCT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926080"/>
            <a:ext cx="149961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6575"/>
                </a:solidFill>
              </a:defRPr>
            </a:pPr>
            <a:r>
              <a:t>Mobile camera identifies physical appliance via YOLO</a:t>
            </a:r>
          </a:p>
        </p:txBody>
      </p:sp>
      <p:sp>
        <p:nvSpPr>
          <p:cNvPr id="13" name="Chevron 12"/>
          <p:cNvSpPr/>
          <p:nvPr/>
        </p:nvSpPr>
        <p:spPr>
          <a:xfrm>
            <a:off x="2377440" y="3520440"/>
            <a:ext cx="82296" cy="228600"/>
          </a:xfrm>
          <a:prstGeom prst="chevron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478024" y="2423160"/>
            <a:ext cx="1719072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9464" y="2514600"/>
            <a:ext cx="1536192" cy="292608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CREATE PASSPORT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7752" y="2926080"/>
            <a:ext cx="149961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6575"/>
                </a:solidFill>
              </a:defRPr>
            </a:pPr>
            <a:r>
              <a:t>Digital identity minted with permanent evidence links</a:t>
            </a:r>
          </a:p>
        </p:txBody>
      </p:sp>
      <p:sp>
        <p:nvSpPr>
          <p:cNvPr id="17" name="Chevron 16"/>
          <p:cNvSpPr/>
          <p:nvPr/>
        </p:nvSpPr>
        <p:spPr>
          <a:xfrm>
            <a:off x="4215383" y="3520440"/>
            <a:ext cx="82296" cy="228600"/>
          </a:xfrm>
          <a:prstGeom prst="chevron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15968" y="2423160"/>
            <a:ext cx="1719072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07407" y="2514600"/>
            <a:ext cx="1536192" cy="292608"/>
          </a:xfrm>
          <a:prstGeom prst="roundRect">
            <a:avLst/>
          </a:prstGeom>
          <a:solidFill>
            <a:srgbClr val="1F7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SCAN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926080"/>
            <a:ext cx="149961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6575"/>
                </a:solidFill>
              </a:defRPr>
            </a:pPr>
            <a:r>
              <a:t>RapidOCR extracts serial, date, warranty, and seller</a:t>
            </a:r>
          </a:p>
        </p:txBody>
      </p:sp>
      <p:sp>
        <p:nvSpPr>
          <p:cNvPr id="21" name="Chevron 20"/>
          <p:cNvSpPr/>
          <p:nvPr/>
        </p:nvSpPr>
        <p:spPr>
          <a:xfrm>
            <a:off x="6053327" y="3520440"/>
            <a:ext cx="82296" cy="228600"/>
          </a:xfrm>
          <a:prstGeom prst="chevron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53912" y="2423160"/>
            <a:ext cx="1719072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45351" y="2514600"/>
            <a:ext cx="1536192" cy="292608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WARRANTY SHIELD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926080"/>
            <a:ext cx="149961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6575"/>
                </a:solidFill>
              </a:defRPr>
            </a:pPr>
            <a:r>
              <a:t>Automated countdown alerts before coverage lapses</a:t>
            </a:r>
          </a:p>
        </p:txBody>
      </p:sp>
      <p:sp>
        <p:nvSpPr>
          <p:cNvPr id="25" name="Chevron 24"/>
          <p:cNvSpPr/>
          <p:nvPr/>
        </p:nvSpPr>
        <p:spPr>
          <a:xfrm>
            <a:off x="7891271" y="3520440"/>
            <a:ext cx="82296" cy="228600"/>
          </a:xfrm>
          <a:prstGeom prst="chevron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91855" y="2423160"/>
            <a:ext cx="1719072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83295" y="2514600"/>
            <a:ext cx="1536192" cy="292608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AI ASSISTANT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3" y="2926080"/>
            <a:ext cx="149961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6575"/>
                </a:solidFill>
              </a:defRPr>
            </a:pPr>
            <a:r>
              <a:t>Zero-hallucination chat grounded in source documents</a:t>
            </a:r>
          </a:p>
        </p:txBody>
      </p:sp>
      <p:sp>
        <p:nvSpPr>
          <p:cNvPr id="29" name="Chevron 28"/>
          <p:cNvSpPr/>
          <p:nvPr/>
        </p:nvSpPr>
        <p:spPr>
          <a:xfrm>
            <a:off x="9729215" y="3520440"/>
            <a:ext cx="82296" cy="228600"/>
          </a:xfrm>
          <a:prstGeom prst="chevron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829799" y="2423160"/>
            <a:ext cx="1719072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21239" y="2514600"/>
            <a:ext cx="1536192" cy="292608"/>
          </a:xfrm>
          <a:prstGeom prst="roundRect">
            <a:avLst/>
          </a:prstGeom>
          <a:solidFill>
            <a:srgbClr val="1F7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ANALYSE BILLS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9527" y="2926080"/>
            <a:ext cx="149961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6575"/>
                </a:solidFill>
              </a:defRPr>
            </a:pPr>
            <a:r>
              <a:t>Explains why monthly utility and repair costs changed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166360"/>
            <a:ext cx="10561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1B2D"/>
                </a:solidFill>
              </a:defRPr>
            </a:pPr>
            <a:r>
              <a:t>A physical product becomes a persistent, cryptographically sealed digital record.</a:t>
            </a:r>
          </a:p>
          <a:p>
            <a:pPr>
              <a:defRPr sz="1050">
                <a:solidFill>
                  <a:srgbClr val="556575"/>
                </a:solidFill>
              </a:defRPr>
            </a:pPr>
            <a:r>
              <a:t>Original photos and documents remain permanently anchored as verifiable evidence; AI extracts structured parameters, predicts maintenance needs, and answers queries with zero fabrication.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04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1. Dual-Evidence Intake: Paper + Physical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Real inputs captured together to anchor product identity without manual typing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645920"/>
            <a:ext cx="4937760" cy="320040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COMMERCIAL ANCHOR (INVOICE / RECEIPT)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03120"/>
            <a:ext cx="4937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1_input_warranty_docu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157984"/>
            <a:ext cx="4828032" cy="19202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4114800"/>
            <a:ext cx="4828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5B8C"/>
                </a:solidFill>
                <a:latin typeface="Aptos"/>
              </a:defRPr>
            </a:pPr>
            <a:r>
              <a:t>Electrolux EcoCare 900 Warranty Document (PDF / Image)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26280"/>
            <a:ext cx="49377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6575"/>
                </a:solidFill>
              </a:defRPr>
            </a:pPr>
            <a:r>
              <a:t>• Captures legal commercial transaction: Seller, Customer, Date, Price.</a:t>
            </a:r>
          </a:p>
          <a:p>
            <a:pPr>
              <a:defRPr sz="1000">
                <a:solidFill>
                  <a:srgbClr val="556575"/>
                </a:solidFill>
              </a:defRPr>
            </a:pPr>
            <a:r>
              <a:t>• Contains manufacturer model code, order ID, and official warranty terms.</a:t>
            </a:r>
          </a:p>
          <a:p>
            <a:pPr>
              <a:defRPr sz="1000">
                <a:solidFill>
                  <a:srgbClr val="556575"/>
                </a:solidFill>
              </a:defRPr>
            </a:pPr>
            <a:r>
              <a:t>• RapidOCR extracts structured fields automatically without tedious manual typing.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50876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46520" y="1645920"/>
            <a:ext cx="4937760" cy="320040"/>
          </a:xfrm>
          <a:prstGeom prst="roundRect">
            <a:avLst/>
          </a:prstGeom>
          <a:solidFill>
            <a:srgbClr val="1F7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HARDWARE ANCHOR (REAL APPLIANCE PHOTO)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2103120"/>
            <a:ext cx="32918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2_input_physical_product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44" y="2157984"/>
            <a:ext cx="3182112" cy="19202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24344" y="4114800"/>
            <a:ext cx="3182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5B8C"/>
                </a:solidFill>
                <a:latin typeface="Aptos"/>
              </a:defRPr>
            </a:pPr>
            <a:r>
              <a:t>Physical Appliance Photo (Captured on Phone Camera)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526280"/>
            <a:ext cx="49377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6575"/>
                </a:solidFill>
              </a:defRPr>
            </a:pPr>
            <a:r>
              <a:t>• Proves physical possession in the room, stopping paper-only return fraud.</a:t>
            </a:r>
          </a:p>
          <a:p>
            <a:pPr>
              <a:defRPr sz="1000">
                <a:solidFill>
                  <a:srgbClr val="556575"/>
                </a:solidFill>
              </a:defRPr>
            </a:pPr>
            <a:r>
              <a:t>• Custom YOLO identifies product class (Washing Machine) &amp; computes match score.</a:t>
            </a:r>
          </a:p>
          <a:p>
            <a:pPr>
              <a:defRPr sz="1000">
                <a:solidFill>
                  <a:srgbClr val="556575"/>
                </a:solidFill>
              </a:defRPr>
            </a:pPr>
            <a:r>
              <a:t>• ⚡ 1-Click Demo Presets included for instant hackathon evaluation.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05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2. Document AI: RapidOCR &amp; Semantic Extraction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Sub-150ms offline text extraction with zero-hallucination semantic parsing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60350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review_ocr_and_yolo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563624"/>
            <a:ext cx="5925312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" y="5806440"/>
            <a:ext cx="5925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5B8C"/>
                </a:solidFill>
                <a:latin typeface="Aptos"/>
              </a:defRPr>
            </a:pPr>
            <a:r>
              <a:t>Reviewing Extracted Document Metadata &amp; YOLO Detection Signals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08760"/>
            <a:ext cx="47091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40880" y="1664208"/>
            <a:ext cx="4343400" cy="320040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EXTRACTION ENGINE &amp; ZERO-HALLUCINATION PARSING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103120"/>
            <a:ext cx="4343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50">
                <a:solidFill>
                  <a:srgbClr val="0F1B2D"/>
                </a:solidFill>
              </a:defRPr>
            </a:pPr>
            <a:r>
              <a:t>⚡ RapidOCR Engine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High-speed offline ONNX inference (~120ms); extracts raw text lines with high resilience against crumpled receipts and phone camera angles.</a:t>
            </a:r>
          </a:p>
          <a:p>
            <a:pPr>
              <a:spcAft>
                <a:spcPts val="200"/>
              </a:spcAft>
              <a:defRPr b="1" sz="1050">
                <a:solidFill>
                  <a:srgbClr val="0F1B2D"/>
                </a:solidFill>
              </a:defRPr>
            </a:pPr>
            <a:r>
              <a:t>🛡️ Zero-Fabrication Parser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Applies strict regex matching against certified model patterns and serial numbers; never uses generative text guessing for critical identifiers.</a:t>
            </a:r>
          </a:p>
          <a:p>
            <a:pPr>
              <a:spcAft>
                <a:spcPts val="200"/>
              </a:spcAft>
              <a:defRPr b="1" sz="1050">
                <a:solidFill>
                  <a:srgbClr val="0F1B2D"/>
                </a:solidFill>
              </a:defRPr>
            </a:pPr>
            <a:r>
              <a:t>📋 Extracted Entity Schema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• Product: Electrolux EcoCare 900</a:t>
            </a:r>
            <a:br/>
            <a:r>
              <a:t>• Model: EWF9042R7WB  • Category: Washing Machine</a:t>
            </a:r>
            <a:br/>
            <a:r>
              <a:t>• Serial: SN-WM900-2026-8842</a:t>
            </a:r>
            <a:br/>
            <a:r>
              <a:t>• Purchase Date: 12 Aug 2026  • Price: $1,299 USD</a:t>
            </a:r>
            <a:br/>
            <a:r>
              <a:t>• Warranty: 2 Years Official Manufacturer Coverage</a:t>
            </a:r>
          </a:p>
          <a:p>
            <a:pPr>
              <a:spcAft>
                <a:spcPts val="200"/>
              </a:spcAft>
              <a:defRPr b="1" sz="1050">
                <a:solidFill>
                  <a:srgbClr val="0F1B2D"/>
                </a:solidFill>
              </a:defRPr>
            </a:pPr>
            <a:r>
              <a:t>✓ Human-in-the-Loop Review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Extracted fields are presented clearly for 1-tap confirmation or edit before permanent cryptographic passport minting.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06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3. Computer Vision: Custom YOLO Appliance Detector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Fine-tuned object localization with bounding-box confidence verification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60350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create_dual_upload_popul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563624"/>
            <a:ext cx="5925312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" y="5806440"/>
            <a:ext cx="5925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5B8C"/>
                </a:solidFill>
                <a:latin typeface="Aptos"/>
              </a:defRPr>
            </a:pPr>
            <a:r>
              <a:t>1-Click Dual Intake: Visual Hardware Anchor &amp; Document Upload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08760"/>
            <a:ext cx="47091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40880" y="1664208"/>
            <a:ext cx="4343400" cy="320040"/>
          </a:xfrm>
          <a:prstGeom prst="roundRect">
            <a:avLst/>
          </a:prstGeom>
          <a:solidFill>
            <a:srgbClr val="1F7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APPLIANCE VISION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103120"/>
            <a:ext cx="4343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50">
                <a:solidFill>
                  <a:srgbClr val="0F1B2D"/>
                </a:solidFill>
              </a:defRPr>
            </a:pPr>
            <a:r>
              <a:t>🎯 Custom Fine-Tuned YOLOv8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Trained specifically on household appliance domains for sub-100ms CPU inference; produces tight bounding boxes and classification scores.</a:t>
            </a:r>
          </a:p>
          <a:p>
            <a:pPr>
              <a:spcAft>
                <a:spcPts val="200"/>
              </a:spcAft>
              <a:defRPr b="1" sz="1050">
                <a:solidFill>
                  <a:srgbClr val="0F1B2D"/>
                </a:solidFill>
              </a:defRPr>
            </a:pPr>
            <a:r>
              <a:t>🏷️ 5 Core Appliance Classes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1. Washing Machine    2. Air Conditioner (AC)</a:t>
            </a:r>
            <a:br/>
            <a:r>
              <a:t>3. Closet / Wardrobe   4. Water Purifier</a:t>
            </a:r>
            <a:br/>
            <a:r>
              <a:t>5. Cot / Bed</a:t>
            </a:r>
          </a:p>
          <a:p>
            <a:pPr>
              <a:spcAft>
                <a:spcPts val="200"/>
              </a:spcAft>
              <a:defRPr b="1" sz="1050">
                <a:solidFill>
                  <a:srgbClr val="0F1B2D"/>
                </a:solidFill>
              </a:defRPr>
            </a:pPr>
            <a:r>
              <a:t>📦 Multi-Object Isolation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Detects multiple appliances in cluttered rooms independently; creates separated passports rather than collapsing the entire room into one record.</a:t>
            </a:r>
          </a:p>
          <a:p>
            <a:pPr>
              <a:spcAft>
                <a:spcPts val="200"/>
              </a:spcAft>
              <a:defRPr b="1" sz="1050">
                <a:solidFill>
                  <a:srgbClr val="0F1B2D"/>
                </a:solidFill>
              </a:defRPr>
            </a:pPr>
            <a:r>
              <a:t>🔄 Multi-Model Fallback Hierarchy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• Tier 1: Custom YOLO Appliance Core (~80ms)</a:t>
            </a:r>
            <a:br/>
            <a:r>
              <a:t>• Tier 2: COCO Foundation Detector fallback (~90ms)</a:t>
            </a:r>
            <a:br/>
            <a:r>
              <a:t>• Tier 3: Bounded Qwen3-VL 8B vision fallback (~1.2s)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07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4. AI/ML Validation: Proven Empirical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Empirically measured validation performance on custom household appliance dataset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2606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554480"/>
            <a:ext cx="2423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A5B8C"/>
                </a:solidFill>
                <a:latin typeface="Aptos"/>
              </a:defRPr>
            </a:pPr>
            <a:r>
              <a:t>98.10%</a:t>
            </a:r>
          </a:p>
          <a:p>
            <a:pPr algn="ctr">
              <a:defRPr sz="850">
                <a:solidFill>
                  <a:srgbClr val="556575"/>
                </a:solidFill>
              </a:defRPr>
            </a:pPr>
            <a:r>
              <a:t>mAP@50 • Appliance localization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1508760"/>
            <a:ext cx="2606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554480"/>
            <a:ext cx="2423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F7A63"/>
                </a:solidFill>
                <a:latin typeface="Aptos"/>
              </a:defRPr>
            </a:pPr>
            <a:r>
              <a:t>99.29%</a:t>
            </a:r>
          </a:p>
          <a:p>
            <a:pPr algn="ctr">
              <a:defRPr sz="850">
                <a:solidFill>
                  <a:srgbClr val="556575"/>
                </a:solidFill>
              </a:defRPr>
            </a:pPr>
            <a:r>
              <a:t>Precision • Near-zero false positive alarms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508760"/>
            <a:ext cx="2606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1554480"/>
            <a:ext cx="2423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AA049"/>
                </a:solidFill>
                <a:latin typeface="Aptos"/>
              </a:defRPr>
            </a:pPr>
            <a:r>
              <a:t>98.57%</a:t>
            </a:r>
          </a:p>
          <a:p>
            <a:pPr algn="ctr">
              <a:defRPr sz="850">
                <a:solidFill>
                  <a:srgbClr val="556575"/>
                </a:solidFill>
              </a:defRPr>
            </a:pPr>
            <a:r>
              <a:t>Recall • Detects appliances in clutter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1976" y="1508760"/>
            <a:ext cx="2606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43416" y="1554480"/>
            <a:ext cx="2423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A5B8C"/>
                </a:solidFill>
                <a:latin typeface="Aptos"/>
              </a:defRPr>
            </a:pPr>
            <a:r>
              <a:t>~69-96 ms</a:t>
            </a:r>
          </a:p>
          <a:p>
            <a:pPr algn="ctr">
              <a:defRPr sz="850">
                <a:solidFill>
                  <a:srgbClr val="556575"/>
                </a:solidFill>
              </a:defRPr>
            </a:pPr>
            <a:r>
              <a:t>CPU Latency • Instant edge execution speed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697480"/>
            <a:ext cx="530352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8_model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752344"/>
            <a:ext cx="5193792" cy="2971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4944" y="5760720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5B8C"/>
                </a:solidFill>
                <a:latin typeface="Aptos"/>
              </a:defRPr>
            </a:pPr>
            <a:r>
              <a:t>Normalized Confusion Matrix: 99%+ Diagonal Accuracy Across 5 Classes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697480"/>
            <a:ext cx="530352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9_model_training_metrics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3" y="2752344"/>
            <a:ext cx="5193792" cy="2971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18503" y="5760720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5B8C"/>
                </a:solidFill>
                <a:latin typeface="Aptos"/>
              </a:defRPr>
            </a:pPr>
            <a:r>
              <a:t>Loss Convergence &amp; mAP Curves Across 15 Epochs on Custom Appliance Dataset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08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5. The Output: Verified Digital Product Passport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An immutable, standards-compliant digital asset anchored to physical proof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530352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7_passport_minted_ver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563624"/>
            <a:ext cx="5193792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" y="4526280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5B8C"/>
                </a:solidFill>
                <a:latin typeface="Aptos"/>
              </a:defRPr>
            </a:pPr>
            <a:r>
              <a:t>Verified Passport Record: Verification Posture &amp; Commercial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920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6575"/>
                </a:solidFill>
              </a:defRPr>
            </a:pPr>
            <a:r>
              <a:t>✓ Hardware Anchor Proof: Real appliance photo bound permanently to record.</a:t>
            </a:r>
          </a:p>
          <a:p>
            <a:pPr>
              <a:defRPr sz="1000">
                <a:solidFill>
                  <a:srgbClr val="556575"/>
                </a:solidFill>
              </a:defRPr>
            </a:pPr>
            <a:r>
              <a:t>✓ Sub-200ms Search: Instant registry lookup by Serial, Model, Brand, or QR ID.</a:t>
            </a:r>
          </a:p>
          <a:p>
            <a:pPr>
              <a:defRPr sz="1000">
                <a:solidFill>
                  <a:srgbClr val="556575"/>
                </a:solidFill>
              </a:defRPr>
            </a:pPr>
            <a:r>
              <a:t>✓ Audit Trail: Complete chronological timeline of minting, edits, and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08760"/>
            <a:ext cx="530352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2_official_dpp_certificate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3" y="1563624"/>
            <a:ext cx="5193792" cy="2926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18503" y="4526280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5B8C"/>
                </a:solidFill>
                <a:latin typeface="Aptos"/>
              </a:defRPr>
            </a:pPr>
            <a:r>
              <a:t>Official Verid DPP Certificate: EU Ecodesign Seal, QR &amp; Cryptographic Hash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8920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6575"/>
                </a:solidFill>
              </a:defRPr>
            </a:pPr>
            <a:r>
              <a:t>✓ Cryptographic SHA-256 Seal: Unique deterministic hash sealing invoice + photo.</a:t>
            </a:r>
          </a:p>
          <a:p>
            <a:pPr>
              <a:defRPr sz="1000">
                <a:solidFill>
                  <a:srgbClr val="556575"/>
                </a:solidFill>
              </a:defRPr>
            </a:pPr>
            <a:r>
              <a:t>✓ EU Ecodesign Compliant: Repairability Index (8.6/10) and Eco Class (A++).</a:t>
            </a:r>
          </a:p>
          <a:p>
            <a:pPr>
              <a:defRPr sz="1000">
                <a:solidFill>
                  <a:srgbClr val="556575"/>
                </a:solidFill>
              </a:defRPr>
            </a:pPr>
            <a:r>
              <a:t>✓ 1-Click Print &amp; PDF Export: Ready for warranty claim filing and resale transfer.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09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6. Lifecycle Intelligence: Proactive Guardian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Active monitoring that turns passive documents into automated home protection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1092708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563624"/>
            <a:ext cx="10817352" cy="21488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" y="3749040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5B8C"/>
                </a:solidFill>
                <a:latin typeface="Aptos"/>
              </a:defRPr>
            </a:pPr>
            <a:r>
              <a:t>Live Overview Dashboard with Smart Guardian &amp; Circular Economy Pulse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6052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" y="4325112"/>
            <a:ext cx="3145536" cy="320040"/>
          </a:xfrm>
          <a:prstGeom prst="roundRect">
            <a:avLst/>
          </a:prstGeom>
          <a:solidFill>
            <a:srgbClr val="1F7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WARRANTY SHIELD (100% ACTIVE)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727448"/>
            <a:ext cx="314553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F1B2D"/>
                </a:solidFill>
                <a:latin typeface="Aptos"/>
              </a:defRPr>
            </a:pPr>
            <a:r>
              <a:t>Zero Expired Household Assets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Active monitoring across all registered household appliances.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Automated countdown alerts triggered at 90, 60, and 30-day windows.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Eliminates missed deadlines and out-of-pocket repair costs.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416052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4325112"/>
            <a:ext cx="3145536" cy="320040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PREDICTIVE MAINTENANCE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4727448"/>
            <a:ext cx="314553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F1B2D"/>
                </a:solidFill>
                <a:latin typeface="Aptos"/>
              </a:defRPr>
            </a:pPr>
            <a:r>
              <a:t>Filter &amp; Service Recommendations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Schedules preventive maintenance based on appliance category.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Electrolux Washer: 30-day drum descaling &amp; lint flush alert.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Haier Inverter AC: Pre-season antimicrobial filter cleaning reminder.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416052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57031" y="4325112"/>
            <a:ext cx="3145536" cy="320040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CIRCULAR ECODESIGN (94.8%)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4727448"/>
            <a:ext cx="314553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F1B2D"/>
                </a:solidFill>
                <a:latin typeface="Aptos"/>
              </a:defRPr>
            </a:pPr>
            <a:r>
              <a:t>Circular Economy Ready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Aligns with European Digital Product Passport directives.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Tracks repairability index, component lineage, and materials.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Substantially increases secondary resale value through proof.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10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7. Phone-First Experience: Instant Mobile QR 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Turning any smartphone into an enterprise hardware scanner with zero app installation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53035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1_phone_connect_qr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563624"/>
            <a:ext cx="5193792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" y="4389120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5B8C"/>
                </a:solidFill>
                <a:latin typeface="Aptos"/>
              </a:defRPr>
            </a:pPr>
            <a:r>
              <a:t>Dynamic QR Bridge: Instant Local LAN Connection for iQOO / Android Phones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6575"/>
                </a:solidFill>
              </a:defRPr>
            </a:pPr>
            <a:r>
              <a:t>📱 Dynamic LAN QR Pairing: Direct connection to http://192.168.1.4:5173/scan.</a:t>
            </a:r>
          </a:p>
          <a:p>
            <a:pPr>
              <a:defRPr sz="1000">
                <a:solidFill>
                  <a:srgbClr val="556575"/>
                </a:solidFill>
              </a:defRPr>
            </a:pPr>
            <a:r>
              <a:t>📱 Zero-Install Convenience: Judges simply scan with phone camera to launch live scanner.</a:t>
            </a:r>
          </a:p>
          <a:p>
            <a:pPr>
              <a:defRPr sz="1000">
                <a:solidFill>
                  <a:srgbClr val="556575"/>
                </a:solidFill>
              </a:defRPr>
            </a:pPr>
            <a:r>
              <a:t>📱 No App Store download or configuration required; runs immediately in browser.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08760"/>
            <a:ext cx="53035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0_live_scanner_match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3" y="1563624"/>
            <a:ext cx="5193792" cy="2788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18503" y="4389120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A5B8C"/>
                </a:solidFill>
                <a:latin typeface="Aptos"/>
              </a:defRPr>
            </a:pPr>
            <a:r>
              <a:t>Live Mobile Scanner: Sub-200ms Recognition &amp; Passport Matching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8006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6575"/>
                </a:solidFill>
              </a:defRPr>
            </a:pPr>
            <a:r>
              <a:t>⚡ Sub-200ms Match Speed: Point phone at appliance → YOLO detects → match found.</a:t>
            </a:r>
          </a:p>
          <a:p>
            <a:pPr>
              <a:defRPr sz="1000">
                <a:solidFill>
                  <a:srgbClr val="556575"/>
                </a:solidFill>
              </a:defRPr>
            </a:pPr>
            <a:r>
              <a:t>⚡ Dual Operational Synergy: Mobile handset is the capture tool; PC is the registry.</a:t>
            </a:r>
          </a:p>
          <a:p>
            <a:pPr>
              <a:defRPr sz="1000">
                <a:solidFill>
                  <a:srgbClr val="556575"/>
                </a:solidFill>
              </a:defRPr>
            </a:pPr>
            <a:r>
              <a:t>⚡ Essential Phone Role: Makes the smartphone an active scanner in daily home life.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11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8. AI Assistant: Evidence-Grounded Conversation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Natural language queries answered strictly from verified passport and document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1" y="1673351"/>
            <a:ext cx="4974336" cy="320040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NATURAL LANGUAGE INQUIRIES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075688"/>
            <a:ext cx="497433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F1B2D"/>
                </a:solidFill>
                <a:latin typeface="Aptos"/>
              </a:defRPr>
            </a:pPr>
            <a:r>
              <a:t>Direct Questions Across Household Possessions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“What is the warranty status of my Electrolux washing machine?”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“Is motor replacement covered under the primary warranty terms?”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“Show me the original purchase invoice and model number.”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“Which appliances in my house need maintenance this month?”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“What was the purchase date and price of my living room AC?”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“Generate an official claim email with serial number and invoice attached.”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28231" y="1673351"/>
            <a:ext cx="4974336" cy="320040"/>
          </a:xfrm>
          <a:prstGeom prst="roundRect">
            <a:avLst/>
          </a:prstGeom>
          <a:solidFill>
            <a:srgbClr val="1F7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STRICT EVIDENCE GROUNDING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2075688"/>
            <a:ext cx="497433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F1B2D"/>
                </a:solidFill>
                <a:latin typeface="Aptos"/>
              </a:defRPr>
            </a:pPr>
            <a:r>
              <a:t>Trust Through Verifiable Provenance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Zero-Hallucination Retrieval: Answers derived strictly from indexed passport fields and OCR text blocks.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Exact Source Document Citation: AI cites the specific line item, date, and vendor from original invoice.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Proactive Lifecycle Advisory: Suggests official customer service helplines and claim requirements.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Unified Household Search: Aggregates across electronics, appliances, and furniture in one chat.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Privacy Preserving: Sensitive receipt details remain within local registry storage.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12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9. Bill Intelligence: Transparent Cost Explanations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Deconstructing utility and service bills into plain-language financial insights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664208"/>
            <a:ext cx="4937760" cy="320040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₹4,872 ELECTRICITY BILL BREAKDOWN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49377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B2D"/>
                </a:solidFill>
              </a:defRPr>
            </a:pPr>
            <a:r>
              <a:t>Base Charge               ₹2,100</a:t>
            </a:r>
          </a:p>
          <a:p>
            <a:pPr>
              <a:spcAft>
                <a:spcPts val="400"/>
              </a:spcAft>
              <a:defRPr sz="900">
                <a:solidFill>
                  <a:srgbClr val="556575"/>
                </a:solidFill>
              </a:defRPr>
            </a:pPr>
            <a:r>
              <a:t>   ↳ Standard fixed connection fee</a:t>
            </a:r>
          </a:p>
          <a:p>
            <a:pPr>
              <a:defRPr b="1" sz="1100">
                <a:solidFill>
                  <a:srgbClr val="0F1B2D"/>
                </a:solidFill>
              </a:defRPr>
            </a:pPr>
            <a:r>
              <a:t>Usage Energy Charge       ₹1,730</a:t>
            </a:r>
          </a:p>
          <a:p>
            <a:pPr>
              <a:spcAft>
                <a:spcPts val="400"/>
              </a:spcAft>
              <a:defRPr sz="900">
                <a:solidFill>
                  <a:srgbClr val="556575"/>
                </a:solidFill>
              </a:defRPr>
            </a:pPr>
            <a:r>
              <a:t>   ↳ Summer AC peak kilowatt consumption</a:t>
            </a:r>
          </a:p>
          <a:p>
            <a:pPr>
              <a:defRPr b="1" sz="1100">
                <a:solidFill>
                  <a:srgbClr val="0F1B2D"/>
                </a:solidFill>
              </a:defRPr>
            </a:pPr>
            <a:r>
              <a:t>Electricity Duty &amp; Tax    ₹420</a:t>
            </a:r>
          </a:p>
          <a:p>
            <a:pPr>
              <a:spcAft>
                <a:spcPts val="400"/>
              </a:spcAft>
              <a:defRPr sz="900">
                <a:solidFill>
                  <a:srgbClr val="556575"/>
                </a:solidFill>
              </a:defRPr>
            </a:pPr>
            <a:r>
              <a:t>   ↳ Government utility tax tariff</a:t>
            </a:r>
          </a:p>
          <a:p>
            <a:pPr>
              <a:defRPr b="1" sz="1100">
                <a:solidFill>
                  <a:srgbClr val="0F1B2D"/>
                </a:solidFill>
              </a:defRPr>
            </a:pPr>
            <a:r>
              <a:t>Late Payment Surcharge    ₹300</a:t>
            </a:r>
          </a:p>
          <a:p>
            <a:pPr>
              <a:spcAft>
                <a:spcPts val="400"/>
              </a:spcAft>
              <a:defRPr sz="900">
                <a:solidFill>
                  <a:srgbClr val="556575"/>
                </a:solidFill>
              </a:defRPr>
            </a:pPr>
            <a:r>
              <a:t>   ↳ Avoidable late fee penalty</a:t>
            </a:r>
          </a:p>
          <a:p>
            <a:pPr>
              <a:defRPr b="1" sz="1100">
                <a:solidFill>
                  <a:srgbClr val="0F1B2D"/>
                </a:solidFill>
              </a:defRPr>
            </a:pPr>
            <a:r>
              <a:t>Other Adjustments         ₹322</a:t>
            </a:r>
          </a:p>
          <a:p>
            <a:pPr>
              <a:spcAft>
                <a:spcPts val="400"/>
              </a:spcAft>
              <a:defRPr sz="900">
                <a:solidFill>
                  <a:srgbClr val="556575"/>
                </a:solidFill>
              </a:defRPr>
            </a:pPr>
            <a:r>
              <a:t>   ↳ Regulatory surcharge</a:t>
            </a:r>
          </a:p>
          <a:p>
            <a:pPr>
              <a:defRPr b="1" sz="1050">
                <a:solidFill>
                  <a:srgbClr val="B91C1C"/>
                </a:solidFill>
              </a:defRPr>
            </a:pPr>
            <a:r>
              <a:t>Last Month: ₹3,714   →   Current Month: ₹4,872   (+31% Net Increase)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1664208"/>
            <a:ext cx="4937760" cy="320040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0F1B2D"/>
                </a:solidFill>
                <a:latin typeface="Aptos"/>
              </a:defRPr>
            </a:pPr>
            <a:r>
              <a:t>AI PLAIN-LANGUAGE EXPLANATION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148840"/>
            <a:ext cx="4937760" cy="1188720"/>
          </a:xfrm>
          <a:prstGeom prst="roundRect">
            <a:avLst/>
          </a:prstGeom>
          <a:solidFill>
            <a:srgbClr val="FAF3E0"/>
          </a:solidFill>
          <a:ln w="19050">
            <a:solidFill>
              <a:srgbClr val="CAA0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24028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B2D"/>
                </a:solidFill>
              </a:defRPr>
            </a:pPr>
            <a:r>
              <a:t>“Your bill increased 31% primarily due to higher seasonal AC usage (+₹1,730) and an avoidable ₹300 late fee.”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47472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F1B2D"/>
                </a:solidFill>
              </a:defRPr>
            </a:pPr>
            <a:r>
              <a:t>• Appliance Attribution: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  Connects electricity surge directly to high-draw appliances identified in passports (e.g. Inverter AC vs Refrigerator).</a:t>
            </a:r>
          </a:p>
          <a:p>
            <a:pPr>
              <a:defRPr b="1" sz="1050">
                <a:solidFill>
                  <a:srgbClr val="0F1B2D"/>
                </a:solidFill>
              </a:defRPr>
            </a:pPr>
            <a:r>
              <a:t>• Tariff &amp; Penalty Detection: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  Flags hidden penalty fees and tariff changes that are typically buried in complex fine print.</a:t>
            </a:r>
          </a:p>
          <a:p>
            <a:pPr>
              <a:defRPr b="1" sz="1050">
                <a:solidFill>
                  <a:srgbClr val="0F1B2D"/>
                </a:solidFill>
              </a:defRPr>
            </a:pPr>
            <a:r>
              <a:t>• Actionable Cost Prevention: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  Automates bill payment reminders and advises eco-cooling modes to prevent future late fees.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13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10. Technical Architecture: Specialized AI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Coordinated microservices combining edge vision, OCR, and local language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26060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64208"/>
            <a:ext cx="2331720" cy="320040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1. CLIENT 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84831"/>
            <a:ext cx="2331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B2D"/>
                </a:solidFill>
              </a:defRPr>
            </a:pPr>
            <a:r>
              <a:t>Web UI &amp; Mobile Scanner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Vite 7 + React 19 + TypeScript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Tailwind CSS + Lucide Icons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HTML5 Camera Scanner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Dynamic QR LAN Bridge (192.168.1.4:5173)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Responsive Desktop &amp; Mobile 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1508760"/>
            <a:ext cx="26060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47872" y="1664208"/>
            <a:ext cx="2331720" cy="320040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2. API GATEWAY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084831"/>
            <a:ext cx="2331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B2D"/>
                </a:solidFill>
              </a:defRPr>
            </a:pPr>
            <a:r>
              <a:t>Gateway &amp; Passport Vault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Node.js Express + TypeScript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Zod Runtime Schema Validation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Multi-Factor Matching Engine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SHA-256 Cryptographic Hasher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SQLite Document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508760"/>
            <a:ext cx="26060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18504" y="1664208"/>
            <a:ext cx="2331720" cy="320040"/>
          </a:xfrm>
          <a:prstGeom prst="roundRect">
            <a:avLst/>
          </a:prstGeom>
          <a:solidFill>
            <a:srgbClr val="1F7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3. AI CORE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084831"/>
            <a:ext cx="2331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B2D"/>
                </a:solidFill>
              </a:defRPr>
            </a:pPr>
            <a:r>
              <a:t>Vision &amp; Document AI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Python FastAPI Microservice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Custom YOLOv8 Appliance (~80ms)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RapidOCR Offline Engine (~120ms)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COCO Foundation Detector Fallback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Qwen3-VL 8B (Ollama Local)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1508760"/>
            <a:ext cx="26060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89136" y="1664208"/>
            <a:ext cx="2331720" cy="320040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4. VERIFIED PASSPORT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36" y="2084831"/>
            <a:ext cx="2331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B2D"/>
                </a:solidFill>
              </a:defRPr>
            </a:pPr>
            <a:r>
              <a:t>Living Digital Identity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Immutable Audit Timeline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Hardware Photo Anchor Proof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EU Ecodesign DPP Compliance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Repairability Index (8.6/10)</a:t>
            </a:r>
          </a:p>
          <a:p>
            <a:pPr>
              <a:spcAft>
                <a:spcPts val="400"/>
              </a:spcAft>
              <a:defRPr sz="950">
                <a:solidFill>
                  <a:srgbClr val="556575"/>
                </a:solidFill>
              </a:defRPr>
            </a:pPr>
            <a:r>
              <a:t>• 1-Click PDF / Print Certificate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14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11. Why We Are Different: Traditional Storage vs. Verid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Comparing passive document folders with an active, verified Digital Product Passport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645920"/>
            <a:ext cx="2286000" cy="347472"/>
          </a:xfrm>
          <a:prstGeom prst="round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DIMENSION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645920"/>
            <a:ext cx="3931920" cy="347472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TRADITIONAL WARRANTY STORAGE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1645920"/>
            <a:ext cx="4069080" cy="347472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0F1B2D"/>
                </a:solidFill>
                <a:latin typeface="Aptos"/>
              </a:defRPr>
            </a:pPr>
            <a:r>
              <a:t>VERID DIGITAL PRODUCT PASSPORT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0312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B2D"/>
                </a:solidFill>
                <a:latin typeface="Aptos"/>
              </a:defRPr>
            </a:pPr>
            <a:r>
              <a:t>Evidence Intake     |  Manual PDF upload to Google Drive / folder        |  ✓ Dual-Anchor: Commercial document + Real physical hardware photo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79"/>
            <a:ext cx="10561320" cy="9144"/>
          </a:xfrm>
          <a:prstGeom prst="rect">
            <a:avLst/>
          </a:prstGeom>
          <a:solidFill>
            <a:srgbClr val="EEE8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74320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B2D"/>
                </a:solidFill>
                <a:latin typeface="Aptos"/>
              </a:defRPr>
            </a:pPr>
            <a:r>
              <a:t>Physical Proof      |  NONE (Zero validation of actual hardware poss     |  ✓ Real-time Fine-Tuned Custom YOLOv8 computer vision detection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337560"/>
            <a:ext cx="10561320" cy="9144"/>
          </a:xfrm>
          <a:prstGeom prst="rect">
            <a:avLst/>
          </a:prstGeom>
          <a:solidFill>
            <a:srgbClr val="EEE8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38328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B2D"/>
                </a:solidFill>
                <a:latin typeface="Aptos"/>
              </a:defRPr>
            </a:pPr>
            <a:r>
              <a:t>Data Extraction     |  Manual typing of serials, dates, and prices       |  ✓ Sub-150ms RapidOCR + zero-fabrication deterministic regex parser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977640"/>
            <a:ext cx="10561320" cy="9144"/>
          </a:xfrm>
          <a:prstGeom prst="rect">
            <a:avLst/>
          </a:prstGeom>
          <a:solidFill>
            <a:srgbClr val="EEE8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02336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B2D"/>
                </a:solidFill>
                <a:latin typeface="Aptos"/>
              </a:defRPr>
            </a:pPr>
            <a:r>
              <a:t>Lifecycle Intel     |  Passive date reminder (often missed or ignore     |  ✓ Proactive Smart Guardian: 30-day maintenance AI + warranty countdown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617720"/>
            <a:ext cx="10561320" cy="9144"/>
          </a:xfrm>
          <a:prstGeom prst="rect">
            <a:avLst/>
          </a:prstGeom>
          <a:solidFill>
            <a:srgbClr val="EEE8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B2D"/>
                </a:solidFill>
                <a:latin typeface="Aptos"/>
              </a:defRPr>
            </a:pPr>
            <a:r>
              <a:t>Trust &amp; Security    |  Static unverified PDFs easily forged or alter     |  ✓ Cryptographically sealed SHA-256 hash + EU Ecodesign DPP Certificate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257800"/>
            <a:ext cx="10561320" cy="9144"/>
          </a:xfrm>
          <a:prstGeom prst="rect">
            <a:avLst/>
          </a:prstGeom>
          <a:solidFill>
            <a:srgbClr val="EEE8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30352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B2D"/>
                </a:solidFill>
                <a:latin typeface="Aptos"/>
              </a:defRPr>
            </a:pPr>
            <a:r>
              <a:t>Phone Camera Role   |  Passive document photography / file viewer        |  ✓ Phone-first dynamic QR camera scanner for real-time asset matching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897880"/>
            <a:ext cx="10561320" cy="9144"/>
          </a:xfrm>
          <a:prstGeom prst="rect">
            <a:avLst/>
          </a:prstGeom>
          <a:solidFill>
            <a:srgbClr val="EEE8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15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12. Future Vision / Next Evolution: AI House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“An AI that remembers your home, understands what is inside it, and helps you take care of it.”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1" y="1673351"/>
            <a:ext cx="4974336" cy="320040"/>
          </a:xfrm>
          <a:prstGeom prst="roundRect">
            <a:avLst/>
          </a:prstGeom>
          <a:solidFill>
            <a:srgbClr val="1F7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IMPLEMENTED TODAY (PRODUCTION READY)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075688"/>
            <a:ext cx="497433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F1B2D"/>
                </a:solidFill>
                <a:latin typeface="Aptos"/>
              </a:defRPr>
            </a:pPr>
            <a:r>
              <a:t>Engineered, Tested &amp; Live in Codebase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Dual-Evidence Digital Product Passports: Combines commercial and hardware proof.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Fine-Tuned Custom YOLO Appliance Detector: 5 classes with 98.10% mAP@50.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RapidOCR Document Parsing: Zero-fabrication regex extraction of serials and dates.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Phone-First Wi-Fi QR Scanner: Instant pairing for iQOO / Android smartphones.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Official EU DPP Certificate: SHA-256 sealed with Repairability Index (8.6/10).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Proactive Smart Guardian: Automated warranty countdown and maintenance alerts.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28231" y="1673351"/>
            <a:ext cx="4974336" cy="320040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NEXT EVOLUTION: AI HOUSE MEMORY (FUTURE VISION)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2075688"/>
            <a:ext cx="497433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F1B2D"/>
                </a:solidFill>
                <a:latin typeface="Aptos"/>
              </a:defRPr>
            </a:pPr>
            <a:r>
              <a:t>Expanding Beyond Products into Home Memory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Spatial Visual Memory: Remembers products, appliances, furniture, and where items belong.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Temporal Change Detection: Tracks interior changes over time; notices missing or moved items.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Interior &amp; Asset Awareness: Remembers paint color codes, plumbing fixtures, and accessories.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Predictive Household Care: Recommends filter replacements, descaling, and seasonal prep.</a:t>
            </a:r>
          </a:p>
          <a:p>
            <a:pPr>
              <a:spcAft>
                <a:spcPts val="400"/>
              </a:spcAft>
              <a:defRPr sz="1000">
                <a:solidFill>
                  <a:srgbClr val="556575"/>
                </a:solidFill>
                <a:latin typeface="Aptos"/>
              </a:defRPr>
            </a:pPr>
            <a:r>
              <a:t>•  100% Private Local Edge AI: Powered by local vision models (Ollama/Qwen3-VL) — intimate home imagery never leaves the household Wi-Fi network!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556575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16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B2D"/>
                </a:solidFill>
                <a:latin typeface="Aptos"/>
              </a:defRPr>
            </a:pPr>
            <a:r>
              <a:t>13. Live Demo Story: The 3-Minute Walkthrough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77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56575"/>
                </a:solidFill>
                <a:latin typeface="Aptos"/>
              </a:defRPr>
            </a:pPr>
            <a:r>
              <a:t>A crisp, reproducible demonstration flow built specifically for hackathon judges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26060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64208"/>
            <a:ext cx="2331720" cy="320040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FFFFFF"/>
                </a:solidFill>
                <a:latin typeface="Aptos"/>
              </a:defRPr>
            </a:pPr>
            <a:r>
              <a:t>01  OVERVIEW &amp; GUARDIAN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84831"/>
            <a:ext cx="2331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CAA049"/>
                </a:solidFill>
              </a:defRPr>
            </a:pPr>
            <a:r>
              <a:t>Minute 0:00 – 0:45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• Open Overview Dashboard.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• Inspect live statistics &amp; Trust Center AI model health.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• Highlight the 3 Smart Guardian cards: Warranty Shield (100%), Maintenance AI, and EU DPP Score (94.8%).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1508760"/>
            <a:ext cx="26060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47872" y="1664208"/>
            <a:ext cx="2331720" cy="320040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FFFFFF"/>
                </a:solidFill>
                <a:latin typeface="Aptos"/>
              </a:defRPr>
            </a:pPr>
            <a:r>
              <a:t>02  1-CLICK DUAL INTAKE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084831"/>
            <a:ext cx="2331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CAA049"/>
                </a:solidFill>
              </a:defRPr>
            </a:pPr>
            <a:r>
              <a:t>Minute 0:45 – 1:30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• Navigate to 'Create Passport'.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• Tap 1-Click Electrolux Preset button.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• Instantly populates commercial warranty PDF + physical washing machine photo together.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508760"/>
            <a:ext cx="26060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18504" y="1664208"/>
            <a:ext cx="2331720" cy="320040"/>
          </a:xfrm>
          <a:prstGeom prst="roundRect">
            <a:avLst/>
          </a:prstGeom>
          <a:solidFill>
            <a:srgbClr val="1F7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FFFFFF"/>
                </a:solidFill>
                <a:latin typeface="Aptos"/>
              </a:defRPr>
            </a:pPr>
            <a:r>
              <a:t>03  AI 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084831"/>
            <a:ext cx="2331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CAA049"/>
                </a:solidFill>
              </a:defRPr>
            </a:pPr>
            <a:r>
              <a:t>Minute 1:30 – 2:15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• RapidOCR extracts Serial, Model, Date, and Price in ~120ms with zero hallucination.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• Custom YOLO detects appliance with glowing bounding box and 95% confidence score.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1508760"/>
            <a:ext cx="26060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89136" y="1664208"/>
            <a:ext cx="2331720" cy="320040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FFFFFF"/>
                </a:solidFill>
                <a:latin typeface="Aptos"/>
              </a:defRPr>
            </a:pPr>
            <a:r>
              <a:t>04  CERTIFICATE &amp; PHONE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36" y="2084831"/>
            <a:ext cx="2331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CAA049"/>
                </a:solidFill>
              </a:defRPr>
            </a:pPr>
            <a:r>
              <a:t>Minute 2:15 – 3:00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• Open minted passport &amp; click 'Official DPP Certificate' for exportable PDF seal.</a:t>
            </a:r>
          </a:p>
          <a:p>
            <a:pPr>
              <a:spcAft>
                <a:spcPts val="600"/>
              </a:spcAft>
              <a:defRPr sz="950">
                <a:solidFill>
                  <a:srgbClr val="556575"/>
                </a:solidFill>
              </a:defRPr>
            </a:pPr>
            <a:r>
              <a:t>• Click 'Connect Phone' to display dynamic QR code for instant mobile camera testing.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28232"/>
            <a:ext cx="10972800" cy="13716"/>
          </a:xfrm>
          <a:prstGeom prst="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CAA049"/>
                </a:solidFill>
                <a:latin typeface="Aptos"/>
              </a:defRPr>
            </a:pPr>
            <a:r>
              <a:t>Verid — Smart Digital Product Passport • iQOO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CAA049"/>
                </a:solidFill>
                <a:latin typeface="Aptos"/>
              </a:defRPr>
            </a:pPr>
            <a:r>
              <a:t>17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868680"/>
            <a:ext cx="3108960" cy="329184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0F1B2D"/>
                </a:solidFill>
                <a:latin typeface="Aptos"/>
              </a:defRPr>
            </a:pPr>
            <a:r>
              <a:t>iQOO HACKATHON 2026 •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53312"/>
            <a:ext cx="105156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"/>
              </a:defRPr>
            </a:pPr>
            <a:r>
              <a:t>Verid: We Built It. We Proved It. It Scales.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D2DCE6"/>
                </a:solidFill>
              </a:defRPr>
            </a:pPr>
            <a:r>
              <a:t>A complete engineering system today — the foundation for private AI home memory tomorrow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2743200"/>
            <a:ext cx="3429000" cy="2743200"/>
          </a:xfrm>
          <a:prstGeom prst="roundRect">
            <a:avLst/>
          </a:prstGeom>
          <a:solidFill>
            <a:srgbClr val="192B44"/>
          </a:solidFill>
          <a:ln w="19050">
            <a:solidFill>
              <a:srgbClr val="2A5B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41832" y="2880360"/>
            <a:ext cx="3154680" cy="320040"/>
          </a:xfrm>
          <a:prstGeom prst="roundRect">
            <a:avLst/>
          </a:prstGeom>
          <a:solidFill>
            <a:srgbClr val="2A5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1. WE BUILT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337560"/>
            <a:ext cx="3154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1F5F9"/>
                </a:solidFill>
              </a:defRPr>
            </a:pPr>
            <a:r>
              <a:t>✓  Complete working full-stack system running live locally.</a:t>
            </a:r>
          </a:p>
          <a:p>
            <a:pPr>
              <a:spcAft>
                <a:spcPts val="400"/>
              </a:spcAft>
              <a:defRPr sz="1000">
                <a:solidFill>
                  <a:srgbClr val="F1F5F9"/>
                </a:solidFill>
              </a:defRPr>
            </a:pPr>
            <a:r>
              <a:t>✓  Vite 7 + React 19 web frontend with instant Phone QR scanner.</a:t>
            </a:r>
          </a:p>
          <a:p>
            <a:pPr>
              <a:spcAft>
                <a:spcPts val="400"/>
              </a:spcAft>
              <a:defRPr sz="1000">
                <a:solidFill>
                  <a:srgbClr val="F1F5F9"/>
                </a:solidFill>
              </a:defRPr>
            </a:pPr>
            <a:r>
              <a:t>✓  FastAPI microservice executing Custom YOLOv8 and RapidOCR.</a:t>
            </a:r>
          </a:p>
          <a:p>
            <a:pPr>
              <a:spcAft>
                <a:spcPts val="400"/>
              </a:spcAft>
              <a:defRPr sz="1000">
                <a:solidFill>
                  <a:srgbClr val="F1F5F9"/>
                </a:solidFill>
              </a:defRPr>
            </a:pPr>
            <a:r>
              <a:t>✓  Zero placeholder mockups: real working code on local hardware.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53712" y="2743200"/>
            <a:ext cx="3429000" cy="2743200"/>
          </a:xfrm>
          <a:prstGeom prst="roundRect">
            <a:avLst/>
          </a:prstGeom>
          <a:solidFill>
            <a:srgbClr val="192B44"/>
          </a:solidFill>
          <a:ln w="19050">
            <a:solidFill>
              <a:srgbClr val="1F7A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0872" y="2880360"/>
            <a:ext cx="3154680" cy="320040"/>
          </a:xfrm>
          <a:prstGeom prst="roundRect">
            <a:avLst/>
          </a:prstGeom>
          <a:solidFill>
            <a:srgbClr val="1F7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2. WE PROVED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3337560"/>
            <a:ext cx="3154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1F5F9"/>
                </a:solidFill>
              </a:defRPr>
            </a:pPr>
            <a:r>
              <a:t>✓  98.10% mAP@50 and 99.29% precision validation results.</a:t>
            </a:r>
          </a:p>
          <a:p>
            <a:pPr>
              <a:spcAft>
                <a:spcPts val="400"/>
              </a:spcAft>
              <a:defRPr sz="1000">
                <a:solidFill>
                  <a:srgbClr val="F1F5F9"/>
                </a:solidFill>
              </a:defRPr>
            </a:pPr>
            <a:r>
              <a:t>✓  12 real project screenshots proving every step of intake and verification.</a:t>
            </a:r>
          </a:p>
          <a:p>
            <a:pPr>
              <a:spcAft>
                <a:spcPts val="400"/>
              </a:spcAft>
              <a:defRPr sz="1000">
                <a:solidFill>
                  <a:srgbClr val="F1F5F9"/>
                </a:solidFill>
              </a:defRPr>
            </a:pPr>
            <a:r>
              <a:t>✓  Strict zero-fabrication parsing preventing hallucinated identifiers.</a:t>
            </a:r>
          </a:p>
          <a:p>
            <a:pPr>
              <a:spcAft>
                <a:spcPts val="400"/>
              </a:spcAft>
              <a:defRPr sz="1000">
                <a:solidFill>
                  <a:srgbClr val="F1F5F9"/>
                </a:solidFill>
              </a:defRPr>
            </a:pPr>
            <a:r>
              <a:t>✓  Cryptographic SHA-256 deterministic sealing of passport records.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751" y="2743200"/>
            <a:ext cx="3429000" cy="2743200"/>
          </a:xfrm>
          <a:prstGeom prst="roundRect">
            <a:avLst/>
          </a:prstGeom>
          <a:solidFill>
            <a:srgbClr val="192B44"/>
          </a:solidFill>
          <a:ln w="19050">
            <a:solidFill>
              <a:srgbClr val="CAA0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1" y="2880360"/>
            <a:ext cx="3154680" cy="320040"/>
          </a:xfrm>
          <a:prstGeom prst="roundRect">
            <a:avLst/>
          </a:prstGeom>
          <a:solidFill>
            <a:srgbClr val="CAA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3. IT SCALES BIGGER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1" y="3337560"/>
            <a:ext cx="3154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F1F5F9"/>
                </a:solidFill>
              </a:defRPr>
            </a:pPr>
            <a:r>
              <a:t>✓  Digital Product Passport solves the immediate $10B warranty problem.</a:t>
            </a:r>
          </a:p>
          <a:p>
            <a:pPr>
              <a:spcAft>
                <a:spcPts val="400"/>
              </a:spcAft>
              <a:defRPr sz="1000">
                <a:solidFill>
                  <a:srgbClr val="F1F5F9"/>
                </a:solidFill>
              </a:defRPr>
            </a:pPr>
            <a:r>
              <a:t>✓  Local Qwen3-VL vision evolves into on-device AI House Memory.</a:t>
            </a:r>
          </a:p>
          <a:p>
            <a:pPr>
              <a:spcAft>
                <a:spcPts val="400"/>
              </a:spcAft>
              <a:defRPr sz="1000">
                <a:solidFill>
                  <a:srgbClr val="F1F5F9"/>
                </a:solidFill>
              </a:defRPr>
            </a:pPr>
            <a:r>
              <a:t>✓  Understands household changes, furniture, and maintenance needs.</a:t>
            </a:r>
          </a:p>
          <a:p>
            <a:pPr>
              <a:spcAft>
                <a:spcPts val="400"/>
              </a:spcAft>
              <a:defRPr sz="1000">
                <a:solidFill>
                  <a:srgbClr val="F1F5F9"/>
                </a:solidFill>
              </a:defRPr>
            </a:pPr>
            <a:r>
              <a:t>✓  100% private: intimate domestic imagery stays on the local device.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6235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CAA049"/>
                </a:solidFill>
              </a:defRPr>
            </a:pPr>
            <a:r>
              <a:t>Team Verid • GitHub Repository: https://github.com/ATS-AI-6278/IQ-Hackathon • Ready for Judging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