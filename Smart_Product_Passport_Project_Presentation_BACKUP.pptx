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5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6492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rPr dirty="0"/>
              <a:t>Smart Product Passport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0116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0">
                <a:solidFill>
                  <a:srgbClr val="D2DCE6"/>
                </a:solidFill>
                <a:latin typeface="Aptos"/>
              </a:defRPr>
            </a:pPr>
            <a:r>
              <a:t>AI-powered product records, warranty intelligence &amp; bill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51760"/>
            <a:ext cx="70250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CAA049"/>
                </a:solidFill>
                <a:latin typeface="Aptos"/>
              </a:defRPr>
            </a:pPr>
            <a:r>
              <a:rPr dirty="0"/>
              <a:t>Our vision: scan a product, build its digital record, understand its documents and explain</a:t>
            </a:r>
            <a:endParaRPr lang="en-IN" dirty="0"/>
          </a:p>
          <a:p>
            <a:pPr algn="l">
              <a:defRPr sz="1400" b="0">
                <a:solidFill>
                  <a:srgbClr val="CAA049"/>
                </a:solidFill>
                <a:latin typeface="Aptos"/>
              </a:defRPr>
            </a:pPr>
            <a:r>
              <a:rPr dirty="0"/>
              <a:t> its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051560"/>
            <a:ext cx="2926080" cy="4251960"/>
          </a:xfrm>
          <a:prstGeom prst="roundRect">
            <a:avLst/>
          </a:prstGeom>
          <a:solidFill>
            <a:srgbClr val="192B44"/>
          </a:solidFill>
          <a:ln w="2540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1554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AA049"/>
                </a:solidFill>
                <a:latin typeface="Aptos"/>
              </a:defRPr>
            </a:pPr>
            <a:r>
              <a:t>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rPr dirty="0"/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4231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Aptos"/>
              </a:defRPr>
            </a:pPr>
            <a:r>
              <a:rPr dirty="0"/>
              <a:t>PASSPORT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C3F2BA-BF82-19BC-E6FB-9E9C8BDB9693}"/>
              </a:ext>
            </a:extLst>
          </p:cNvPr>
          <p:cNvSpPr txBox="1"/>
          <p:nvPr/>
        </p:nvSpPr>
        <p:spPr>
          <a:xfrm>
            <a:off x="980298" y="5425365"/>
            <a:ext cx="6849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AI-powered product identification • Digital Passport • Warranty Intelligence        • Bill Analysis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B2D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429000" cy="3474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70992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A5B8C"/>
                </a:solidFill>
                <a:latin typeface="Aptos"/>
              </a:defRPr>
            </a:pPr>
            <a:r>
              <a:t>01  INFORMATION IS LOST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9610" y="2148840"/>
            <a:ext cx="310658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Today, product information is scattered across multiple sources.</a:t>
            </a:r>
            <a:endParaRPr lang="en-US" sz="1400" dirty="0"/>
          </a:p>
          <a:p>
            <a:r>
              <a:rPr lang="en-US" sz="1400" dirty="0"/>
              <a:t>Model and serial numbers are printed on the product. </a:t>
            </a:r>
          </a:p>
          <a:p>
            <a:r>
              <a:rPr lang="en-US" sz="1400" dirty="0"/>
              <a:t>Purchase information exists on receipts or invoices. </a:t>
            </a:r>
          </a:p>
          <a:p>
            <a:r>
              <a:rPr lang="en-US" sz="1400" dirty="0"/>
              <a:t>Warranty details may exist only on physical warranty cards. </a:t>
            </a:r>
          </a:p>
          <a:p>
            <a:r>
              <a:rPr lang="en-US" sz="1400" dirty="0"/>
              <a:t>Users often have to manually search through old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429000" cy="3474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70992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t>02  WARRANTY IS 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9620" y="2148839"/>
            <a:ext cx="32461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Owning a product does not mean actively managing its warranty.</a:t>
            </a:r>
            <a:endParaRPr lang="en-US" sz="1400" dirty="0"/>
          </a:p>
          <a:p>
            <a:r>
              <a:rPr lang="en-US" sz="1400" dirty="0"/>
              <a:t>Users may forget the warranty expiry date. </a:t>
            </a:r>
          </a:p>
          <a:p>
            <a:r>
              <a:rPr lang="en-US" sz="1400" dirty="0"/>
              <a:t>Important warranty documents can be misplaced. </a:t>
            </a:r>
          </a:p>
          <a:p>
            <a:r>
              <a:rPr lang="en-US" sz="1400" dirty="0"/>
              <a:t>Users may discover an expired warranty only when the product fails. </a:t>
            </a:r>
          </a:p>
          <a:p>
            <a:r>
              <a:rPr lang="en-US" sz="1400" dirty="0"/>
              <a:t>There is no centralized view of warranty status across products.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429000" cy="3474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5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21040" y="170992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57D5B"/>
                </a:solidFill>
                <a:latin typeface="Aptos"/>
              </a:defRPr>
            </a:pPr>
            <a:r>
              <a:t>03  BILLS ARE CONFUSING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91611"/>
            <a:ext cx="317937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A bill tells us how much we paid — but not always why.</a:t>
            </a:r>
            <a:endParaRPr lang="en-US" sz="1400" dirty="0"/>
          </a:p>
          <a:p>
            <a:r>
              <a:rPr lang="en-US" sz="1400" dirty="0"/>
              <a:t>Bills contain multiple charges and taxes. </a:t>
            </a:r>
          </a:p>
          <a:p>
            <a:r>
              <a:rPr lang="en-US" sz="1400" dirty="0"/>
              <a:t>Increases compared with previous months are difficult to understand. </a:t>
            </a:r>
          </a:p>
          <a:p>
            <a:r>
              <a:rPr lang="en-US" sz="1400" dirty="0"/>
              <a:t>Penalties and additional charges may go unnoticed. </a:t>
            </a:r>
          </a:p>
          <a:p>
            <a:r>
              <a:rPr lang="en-US" sz="1400" dirty="0"/>
              <a:t>Users need to manually interpret complex bills.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5C5841-11E5-DD82-1EB1-09903E127D41}"/>
              </a:ext>
            </a:extLst>
          </p:cNvPr>
          <p:cNvSpPr txBox="1"/>
          <p:nvPr/>
        </p:nvSpPr>
        <p:spPr>
          <a:xfrm>
            <a:off x="777240" y="5525912"/>
            <a:ext cx="107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problem is not the lack of information — it is the lack of an intelligent system that connects and explains it.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28016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7DCE2"/>
                </a:solidFill>
                <a:latin typeface="Aptos"/>
              </a:defRPr>
            </a:pPr>
            <a:r>
              <a:t>One AI-assisted platform for product ownership and bill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2694" y="2512632"/>
            <a:ext cx="1893786" cy="1099248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4538" y="2572250"/>
            <a:ext cx="158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SCAN PRODUCT</a:t>
            </a:r>
          </a:p>
        </p:txBody>
      </p:sp>
      <p:sp>
        <p:nvSpPr>
          <p:cNvPr id="7" name="Chevron 6"/>
          <p:cNvSpPr/>
          <p:nvPr/>
        </p:nvSpPr>
        <p:spPr>
          <a:xfrm>
            <a:off x="2334768" y="302666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81071" y="2512632"/>
            <a:ext cx="1667255" cy="1099248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57274" y="2578608"/>
            <a:ext cx="158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CREATE PASSPORT</a:t>
            </a:r>
          </a:p>
        </p:txBody>
      </p:sp>
      <p:sp>
        <p:nvSpPr>
          <p:cNvPr id="10" name="Chevron 9"/>
          <p:cNvSpPr/>
          <p:nvPr/>
        </p:nvSpPr>
        <p:spPr>
          <a:xfrm>
            <a:off x="4175759" y="302666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2064" y="2512632"/>
            <a:ext cx="1676400" cy="1099248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8931" y="2569464"/>
            <a:ext cx="158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SCAN DOCUMENTS</a:t>
            </a:r>
          </a:p>
        </p:txBody>
      </p:sp>
      <p:sp>
        <p:nvSpPr>
          <p:cNvPr id="13" name="Chevron 12"/>
          <p:cNvSpPr/>
          <p:nvPr/>
        </p:nvSpPr>
        <p:spPr>
          <a:xfrm>
            <a:off x="6016751" y="302666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63055" y="2512632"/>
            <a:ext cx="1676400" cy="1099248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8775" y="2546863"/>
            <a:ext cx="158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WARRANTY ALERTS</a:t>
            </a:r>
          </a:p>
        </p:txBody>
      </p:sp>
      <p:sp>
        <p:nvSpPr>
          <p:cNvPr id="16" name="Chevron 15"/>
          <p:cNvSpPr/>
          <p:nvPr/>
        </p:nvSpPr>
        <p:spPr>
          <a:xfrm>
            <a:off x="7857743" y="302666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04047" y="2512632"/>
            <a:ext cx="1742422" cy="1099248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82778" y="2542032"/>
            <a:ext cx="158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AI CHAT</a:t>
            </a:r>
          </a:p>
        </p:txBody>
      </p:sp>
      <p:sp>
        <p:nvSpPr>
          <p:cNvPr id="19" name="Chevron 18"/>
          <p:cNvSpPr/>
          <p:nvPr/>
        </p:nvSpPr>
        <p:spPr>
          <a:xfrm>
            <a:off x="9804207" y="2990088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943610" y="2512632"/>
            <a:ext cx="1742422" cy="1099248"/>
          </a:xfrm>
          <a:prstGeom prst="roundRect">
            <a:avLst/>
          </a:prstGeom>
          <a:solidFill>
            <a:srgbClr val="FFFFFF"/>
          </a:solidFill>
          <a:ln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43199" y="2535476"/>
            <a:ext cx="158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ANALYSE BILLS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A physical product becomes a persistent digital record.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D2DCE6"/>
                </a:solidFill>
                <a:latin typeface="Aptos"/>
              </a:defRPr>
            </a:pPr>
            <a:r>
              <a:t>Original photos and documents remain available as evidence; AI extracts and explains the information.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7B7656-3596-C119-1C1F-C78BF113AEBB}"/>
              </a:ext>
            </a:extLst>
          </p:cNvPr>
          <p:cNvSpPr txBox="1"/>
          <p:nvPr/>
        </p:nvSpPr>
        <p:spPr>
          <a:xfrm>
            <a:off x="563842" y="2823930"/>
            <a:ext cx="17252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Identify the physical product using computer vision.</a:t>
            </a:r>
          </a:p>
          <a:p>
            <a:endParaRPr lang="en-IN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180896-7C9A-20CE-E69D-8DB5871A735F}"/>
              </a:ext>
            </a:extLst>
          </p:cNvPr>
          <p:cNvSpPr txBox="1"/>
          <p:nvPr/>
        </p:nvSpPr>
        <p:spPr>
          <a:xfrm>
            <a:off x="2671576" y="2827022"/>
            <a:ext cx="15727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Create a digital identity for the product.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E0729B-43F7-7B11-5322-A51B01DE3C4F}"/>
              </a:ext>
            </a:extLst>
          </p:cNvPr>
          <p:cNvSpPr txBox="1"/>
          <p:nvPr/>
        </p:nvSpPr>
        <p:spPr>
          <a:xfrm>
            <a:off x="4443340" y="2821612"/>
            <a:ext cx="16855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Capture the warranty card, receipt or invoice.</a:t>
            </a:r>
            <a:endParaRPr lang="en-IN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65EE53-F930-D1B8-4DFA-86EAECE15D52}"/>
              </a:ext>
            </a:extLst>
          </p:cNvPr>
          <p:cNvSpPr txBox="1"/>
          <p:nvPr/>
        </p:nvSpPr>
        <p:spPr>
          <a:xfrm>
            <a:off x="6190487" y="2805809"/>
            <a:ext cx="17611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Monitor expiry and notify the user before coverage ends.</a:t>
            </a:r>
          </a:p>
          <a:p>
            <a:endParaRPr lang="en-IN" sz="13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8E97D2-E29F-8AA7-E46B-037AB01C9C08}"/>
              </a:ext>
            </a:extLst>
          </p:cNvPr>
          <p:cNvSpPr txBox="1"/>
          <p:nvPr/>
        </p:nvSpPr>
        <p:spPr>
          <a:xfrm>
            <a:off x="8082778" y="2801917"/>
            <a:ext cx="20360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Ask questions about products and their documents.</a:t>
            </a:r>
            <a:endParaRPr lang="en-IN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47418C-868C-E9E8-B3DC-F81DBCFF75A7}"/>
              </a:ext>
            </a:extLst>
          </p:cNvPr>
          <p:cNvSpPr txBox="1"/>
          <p:nvPr/>
        </p:nvSpPr>
        <p:spPr>
          <a:xfrm>
            <a:off x="9943610" y="2817766"/>
            <a:ext cx="1761198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Understand where the user's money went and why  bill changed.</a:t>
            </a:r>
            <a:endParaRPr lang="en-IN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B2D"/>
                </a:solidFill>
                <a:latin typeface="Aptos"/>
              </a:defRPr>
            </a:pPr>
            <a:r>
              <a:t>1. Product Scan →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26E7A"/>
                </a:solidFill>
                <a:latin typeface="Aptos"/>
              </a:defRPr>
            </a:pPr>
            <a:r>
              <a:t>The first action is simply: point the camera at the product.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4459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29968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CAMERA / UPLOAD</a:t>
            </a:r>
          </a:p>
        </p:txBody>
      </p:sp>
      <p:sp>
        <p:nvSpPr>
          <p:cNvPr id="7" name="Chevron 6"/>
          <p:cNvSpPr/>
          <p:nvPr/>
        </p:nvSpPr>
        <p:spPr>
          <a:xfrm>
            <a:off x="2702966" y="211226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49270" y="1828800"/>
            <a:ext cx="204459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4990" y="2029968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OBJECT DETECTION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4912156" y="211226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58460" y="1828800"/>
            <a:ext cx="204459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04180" y="2029968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PRODUCT CLASS</a:t>
            </a:r>
          </a:p>
        </p:txBody>
      </p:sp>
      <p:sp>
        <p:nvSpPr>
          <p:cNvPr id="13" name="Chevron 12"/>
          <p:cNvSpPr/>
          <p:nvPr/>
        </p:nvSpPr>
        <p:spPr>
          <a:xfrm>
            <a:off x="7121347" y="211226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67651" y="1828800"/>
            <a:ext cx="204459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3371" y="2029968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SAVE PRODUCT PHOTO</a:t>
            </a:r>
          </a:p>
        </p:txBody>
      </p:sp>
      <p:sp>
        <p:nvSpPr>
          <p:cNvPr id="16" name="Chevron 15"/>
          <p:cNvSpPr/>
          <p:nvPr/>
        </p:nvSpPr>
        <p:spPr>
          <a:xfrm>
            <a:off x="9330537" y="211226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76841" y="1828800"/>
            <a:ext cx="204459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22561" y="2029968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CREATE PASSPORT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46120"/>
            <a:ext cx="3383280" cy="2011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07732" y="3317804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A5B8C"/>
                </a:solidFill>
                <a:latin typeface="Aptos"/>
              </a:defRPr>
            </a:pPr>
            <a:r>
              <a:rPr dirty="0"/>
              <a:t>MULTIPLE PRODUCTS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1" y="3752144"/>
            <a:ext cx="3161701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/>
              <a:t>Every product instance is processed independently.</a:t>
            </a:r>
            <a:endParaRPr lang="en-US" sz="1300" dirty="0"/>
          </a:p>
          <a:p>
            <a:r>
              <a:rPr lang="en-US" sz="1300" dirty="0"/>
              <a:t>If an image contains a refrigerator, washing machine and microwave, the system detects each object separately rather than treating the entire image as one product.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1" y="3218688"/>
            <a:ext cx="3383280" cy="2011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66360" y="335196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rPr dirty="0"/>
              <a:t>AI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7086" y="3778847"/>
            <a:ext cx="301752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/>
              <a:t>Computer vision identifies; AI verifies.</a:t>
            </a:r>
            <a:endParaRPr lang="en-US" sz="1350" dirty="0"/>
          </a:p>
          <a:p>
            <a:r>
              <a:rPr lang="en-US" sz="1350" dirty="0"/>
              <a:t>Vision AI can refine the detected product category and identify visible brand, model or other product information.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246120"/>
            <a:ext cx="3383280" cy="2011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5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2" y="336689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57D5B"/>
                </a:solidFill>
                <a:latin typeface="Aptos"/>
              </a:defRPr>
            </a:pPr>
            <a:r>
              <a:rPr dirty="0"/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3713" y="3790295"/>
            <a:ext cx="30979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/>
              <a:t>Every scan becomes useful evidence.</a:t>
            </a:r>
            <a:endParaRPr lang="en-US" sz="1350" dirty="0"/>
          </a:p>
          <a:p>
            <a:r>
              <a:rPr lang="en-US" sz="1350" dirty="0"/>
              <a:t>The original image and individual product crop are stored separately and linked to the corresponding passport.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2. Digital Product Passport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7DCE2"/>
                </a:solidFill>
                <a:latin typeface="Aptos"/>
              </a:defRPr>
            </a:pPr>
            <a:r>
              <a:t>Each physical product gets one structured, reusable record.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673145" cy="4389120"/>
          </a:xfrm>
          <a:prstGeom prst="roundRect">
            <a:avLst/>
          </a:prstGeom>
          <a:solidFill>
            <a:srgbClr val="0F1B2D"/>
          </a:solidFill>
          <a:ln w="1651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23358" y="1645920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rPr dirty="0"/>
              <a:t>PASSPORT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495" y="2680903"/>
            <a:ext cx="332117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rPr sz="1600" dirty="0"/>
              <a:t>PRODUCT  — Washing Machine</a:t>
            </a:r>
            <a:br>
              <a:rPr sz="1600" dirty="0"/>
            </a:br>
            <a:r>
              <a:rPr sz="1600" dirty="0"/>
              <a:t>BRAND  — Example Brand</a:t>
            </a:r>
            <a:br>
              <a:rPr sz="1600" dirty="0"/>
            </a:br>
            <a:r>
              <a:rPr sz="1600" dirty="0"/>
              <a:t>MODEL  — WM-2026-X1</a:t>
            </a:r>
            <a:br>
              <a:rPr sz="1600" dirty="0"/>
            </a:br>
            <a:r>
              <a:rPr sz="1600" dirty="0"/>
              <a:t>SERIAL  — SN••••••••</a:t>
            </a:r>
            <a:br>
              <a:rPr sz="1600" dirty="0"/>
            </a:br>
            <a:r>
              <a:rPr sz="1600" dirty="0"/>
              <a:t>PURCHASE DATE  — 12 Aug 2026</a:t>
            </a:r>
            <a:br>
              <a:rPr sz="1600" dirty="0"/>
            </a:br>
            <a:r>
              <a:rPr sz="1600" dirty="0"/>
              <a:t>WARRANTY  — 2 Years</a:t>
            </a:r>
            <a:br>
              <a:rPr sz="1600" dirty="0"/>
            </a:br>
            <a:r>
              <a:rPr sz="1600" dirty="0"/>
              <a:t>SOURCE  — Warranty Card / Receipt</a:t>
            </a:r>
            <a:br>
              <a:rPr sz="1600" dirty="0"/>
            </a:br>
            <a:br>
              <a:rPr dirty="0"/>
            </a:b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136185" y="1670074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Aptos"/>
              </a:defRPr>
            </a:pPr>
            <a:r>
              <a:rPr dirty="0"/>
              <a:t>The passport connects identity + evidence + lifecycle.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2392" y="2276856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E1E6EB"/>
                </a:solidFill>
                <a:latin typeface="Aptos"/>
              </a:defRPr>
            </a:pPr>
            <a:r>
              <a:rPr dirty="0"/>
              <a:t>• Product identity: category, brand, model, serial.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539" y="2980944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E1E6EB"/>
                </a:solidFill>
                <a:latin typeface="Aptos"/>
              </a:defRPr>
            </a:pPr>
            <a:r>
              <a:rPr dirty="0"/>
              <a:t>• Purchase &amp; warranty: date, seller, price, warranty and expiry.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539" y="3648111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E1E6EB"/>
                </a:solidFill>
                <a:latin typeface="Aptos"/>
              </a:defRPr>
            </a:pPr>
            <a:r>
              <a:rPr dirty="0"/>
              <a:t>• Source document: original receipt/warranty card reference.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10505" y="4313035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E1E6EB"/>
                </a:solidFill>
                <a:latin typeface="Aptos"/>
              </a:defRPr>
            </a:pPr>
            <a:r>
              <a:t>• Product image: captured during the first scan.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B2D"/>
                </a:solidFill>
                <a:latin typeface="Aptos"/>
              </a:defRPr>
            </a:pPr>
            <a:r>
              <a:t>3. Warranty Card / Receipt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26E7A"/>
                </a:solidFill>
                <a:latin typeface="Aptos"/>
              </a:defRPr>
            </a:pPr>
            <a:r>
              <a:rPr dirty="0"/>
              <a:t>After creating the passport, the user presses Next and scans the supporting document.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4459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869172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SCAN DOCUMENT</a:t>
            </a:r>
          </a:p>
        </p:txBody>
      </p:sp>
      <p:sp>
        <p:nvSpPr>
          <p:cNvPr id="7" name="Chevron 6"/>
          <p:cNvSpPr/>
          <p:nvPr/>
        </p:nvSpPr>
        <p:spPr>
          <a:xfrm>
            <a:off x="2702966" y="211226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49270" y="1828800"/>
            <a:ext cx="204459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40126" y="1869172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OCR</a:t>
            </a:r>
          </a:p>
        </p:txBody>
      </p:sp>
      <p:sp>
        <p:nvSpPr>
          <p:cNvPr id="10" name="Chevron 9"/>
          <p:cNvSpPr/>
          <p:nvPr/>
        </p:nvSpPr>
        <p:spPr>
          <a:xfrm>
            <a:off x="4912156" y="211226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58460" y="1828800"/>
            <a:ext cx="204459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19268" y="1841222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AI EXTRACTION</a:t>
            </a:r>
          </a:p>
        </p:txBody>
      </p:sp>
      <p:sp>
        <p:nvSpPr>
          <p:cNvPr id="13" name="Chevron 12"/>
          <p:cNvSpPr/>
          <p:nvPr/>
        </p:nvSpPr>
        <p:spPr>
          <a:xfrm>
            <a:off x="7121347" y="211226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67651" y="1828800"/>
            <a:ext cx="204459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3371" y="1840704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VALIDATE FIELDS</a:t>
            </a:r>
          </a:p>
        </p:txBody>
      </p:sp>
      <p:sp>
        <p:nvSpPr>
          <p:cNvPr id="16" name="Chevron 15"/>
          <p:cNvSpPr/>
          <p:nvPr/>
        </p:nvSpPr>
        <p:spPr>
          <a:xfrm>
            <a:off x="9330537" y="211226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76841" y="1828800"/>
            <a:ext cx="234134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95713" y="1871932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UPDATE PASSPORT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461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B2D"/>
                </a:solidFill>
                <a:latin typeface="Aptos"/>
              </a:defRPr>
            </a:pPr>
            <a:r>
              <a:t>The document pipeline extracts structured fields such as: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3611" y="4092477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A5B8C"/>
                </a:solidFill>
                <a:latin typeface="Aptos"/>
              </a:defRPr>
            </a:pPr>
            <a:r>
              <a:rPr dirty="0"/>
              <a:t>Brand  •  Model  •  Serial Number  •  Purchase Date  •  Price  •  Warranty  •  Seller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28" y="4983480"/>
            <a:ext cx="10548465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626E7A"/>
                </a:solidFill>
                <a:latin typeface="Aptos"/>
              </a:defRPr>
            </a:pPr>
            <a:r>
              <a:rPr lang="en-US" sz="1500" dirty="0"/>
              <a:t>The user does not manually enter every product detail. The document becomes the source of structured passport information.</a:t>
            </a:r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F7E08B-90BA-0792-44C0-00879C0E3135}"/>
              </a:ext>
            </a:extLst>
          </p:cNvPr>
          <p:cNvSpPr txBox="1"/>
          <p:nvPr/>
        </p:nvSpPr>
        <p:spPr>
          <a:xfrm>
            <a:off x="660508" y="2114048"/>
            <a:ext cx="25052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Capture the warranty card, receipt or invoice.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EB3565-212E-A31C-C930-5A99F941B19B}"/>
              </a:ext>
            </a:extLst>
          </p:cNvPr>
          <p:cNvSpPr txBox="1"/>
          <p:nvPr/>
        </p:nvSpPr>
        <p:spPr>
          <a:xfrm>
            <a:off x="2865722" y="2112264"/>
            <a:ext cx="234463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/>
              <a:t>Convert document content into machine-readable text.</a:t>
            </a:r>
          </a:p>
          <a:p>
            <a:endParaRPr lang="en-IN" sz="13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88FD95-A6BE-0FAA-51D5-C4E1CD0A15B5}"/>
              </a:ext>
            </a:extLst>
          </p:cNvPr>
          <p:cNvSpPr txBox="1"/>
          <p:nvPr/>
        </p:nvSpPr>
        <p:spPr>
          <a:xfrm>
            <a:off x="5093553" y="2136457"/>
            <a:ext cx="23446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Understand meaning, </a:t>
            </a:r>
          </a:p>
          <a:p>
            <a:r>
              <a:rPr lang="en-US" sz="1300" dirty="0"/>
              <a:t>structure of extracted </a:t>
            </a:r>
            <a:r>
              <a:rPr lang="en-US" sz="1300" dirty="0" err="1"/>
              <a:t>infos</a:t>
            </a:r>
            <a:r>
              <a:rPr lang="en-US" sz="1300" dirty="0"/>
              <a:t>.</a:t>
            </a:r>
            <a:endParaRPr lang="en-IN" sz="13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7A7D76-FAAA-E5AE-0E77-E9319AF171C2}"/>
              </a:ext>
            </a:extLst>
          </p:cNvPr>
          <p:cNvSpPr txBox="1"/>
          <p:nvPr/>
        </p:nvSpPr>
        <p:spPr>
          <a:xfrm>
            <a:off x="7267651" y="2130850"/>
            <a:ext cx="26892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Check important fields and document evidence.</a:t>
            </a:r>
          </a:p>
          <a:p>
            <a:endParaRPr lang="en-IN" sz="13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7B259F-9A67-9E36-DD56-C0EB9E40C39B}"/>
              </a:ext>
            </a:extLst>
          </p:cNvPr>
          <p:cNvSpPr txBox="1"/>
          <p:nvPr/>
        </p:nvSpPr>
        <p:spPr>
          <a:xfrm>
            <a:off x="9437566" y="2151170"/>
            <a:ext cx="246698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Attach extracted </a:t>
            </a:r>
            <a:r>
              <a:rPr lang="en-US" sz="1350" dirty="0" err="1"/>
              <a:t>infos</a:t>
            </a:r>
            <a:r>
              <a:rPr lang="en-US" sz="1350" dirty="0"/>
              <a:t> to the corresponding product passport.</a:t>
            </a:r>
            <a:endParaRPr lang="en-IN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B2D"/>
                </a:solidFill>
                <a:latin typeface="Aptos"/>
              </a:defRPr>
            </a:pPr>
            <a:r>
              <a:t>4. Evidence &amp;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26E7A"/>
                </a:solidFill>
                <a:latin typeface="Aptos"/>
              </a:defRPr>
            </a:pPr>
            <a:r>
              <a:t>Do not store only the extracted text — preserve the original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383280" cy="3566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86688" y="175564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A5B8C"/>
                </a:solidFill>
                <a:latin typeface="Aptos"/>
              </a:defRPr>
            </a:pPr>
            <a:r>
              <a:rPr dirty="0"/>
              <a:t>PRODUCT PHOTOS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76856"/>
            <a:ext cx="3162563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/>
              <a:t>Physical evidence</a:t>
            </a:r>
            <a:endParaRPr lang="en-US" sz="1500" dirty="0"/>
          </a:p>
          <a:p>
            <a:r>
              <a:rPr lang="en-US" sz="1500" dirty="0"/>
              <a:t>Original camera capture </a:t>
            </a:r>
          </a:p>
          <a:p>
            <a:r>
              <a:rPr lang="en-US" sz="1500" dirty="0"/>
              <a:t>Individual detected product crop </a:t>
            </a:r>
          </a:p>
          <a:p>
            <a:r>
              <a:rPr lang="en-US" sz="1500" dirty="0"/>
              <a:t>Product images linked to the passport </a:t>
            </a:r>
          </a:p>
          <a:p>
            <a:r>
              <a:rPr lang="en-US" sz="1500" dirty="0"/>
              <a:t>Historical scans can be retained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554480"/>
            <a:ext cx="3383280" cy="3566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171815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rPr dirty="0"/>
              <a:t>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276856"/>
            <a:ext cx="287761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/>
              <a:t>Ownership evidence</a:t>
            </a:r>
            <a:endParaRPr lang="en-US" sz="1500" dirty="0"/>
          </a:p>
          <a:p>
            <a:r>
              <a:rPr lang="en-US" sz="1500" dirty="0"/>
              <a:t>Warranty cards </a:t>
            </a:r>
          </a:p>
          <a:p>
            <a:r>
              <a:rPr lang="en-US" sz="1500" dirty="0"/>
              <a:t>Purchase receipts </a:t>
            </a:r>
          </a:p>
          <a:p>
            <a:r>
              <a:rPr lang="en-US" sz="1500" dirty="0"/>
              <a:t>Invoices </a:t>
            </a:r>
          </a:p>
          <a:p>
            <a:r>
              <a:rPr lang="en-US" sz="1500" dirty="0"/>
              <a:t>Repair documents </a:t>
            </a:r>
          </a:p>
          <a:p>
            <a:r>
              <a:rPr lang="en-US" sz="1500" dirty="0"/>
              <a:t>Other supporting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554480"/>
            <a:ext cx="3383280" cy="35661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5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51392" y="1718158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57D5B"/>
                </a:solidFill>
                <a:latin typeface="Aptos"/>
              </a:defRPr>
            </a:pPr>
            <a:r>
              <a:rPr dirty="0"/>
              <a:t>STRUCTURED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76856"/>
            <a:ext cx="2627771" cy="1708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500" b="1" dirty="0"/>
              <a:t>Machine-readable information</a:t>
            </a:r>
            <a:endParaRPr lang="en-US" sz="1500" dirty="0"/>
          </a:p>
          <a:p>
            <a:r>
              <a:rPr lang="en-US" sz="1500" dirty="0"/>
              <a:t>Product identity </a:t>
            </a:r>
          </a:p>
          <a:p>
            <a:r>
              <a:rPr lang="en-US" sz="1500" dirty="0"/>
              <a:t>Purchase information </a:t>
            </a:r>
          </a:p>
          <a:p>
            <a:r>
              <a:rPr lang="en-US" sz="1500" dirty="0"/>
              <a:t>Warranty details </a:t>
            </a:r>
          </a:p>
          <a:p>
            <a:r>
              <a:rPr lang="en-US" sz="1500" dirty="0"/>
              <a:t>Extracted document fields </a:t>
            </a:r>
          </a:p>
          <a:p>
            <a:r>
              <a:rPr lang="en-US" sz="1500" dirty="0"/>
              <a:t>Bill history </a:t>
            </a:r>
          </a:p>
          <a:p>
            <a:r>
              <a:rPr lang="en-US" sz="1500" dirty="0"/>
              <a:t>AI-generated 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5. Warranty Intelligence &amp;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7DCE2"/>
                </a:solidFill>
                <a:latin typeface="Aptos"/>
              </a:defRPr>
            </a:pPr>
            <a:r>
              <a:t>The system checks warranty dates and alerts the user before coverage ends.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37560" cy="3200400"/>
          </a:xfrm>
          <a:prstGeom prst="roundRect">
            <a:avLst/>
          </a:prstGeom>
          <a:solidFill>
            <a:srgbClr val="0F1B2D"/>
          </a:solidFill>
          <a:ln w="16510">
            <a:solidFill>
              <a:srgbClr val="35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76856"/>
            <a:ext cx="2971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1"/>
                </a:solidFill>
              </a:rPr>
              <a:t>Warranty Active</a:t>
            </a:r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Product remains under warranty and no immediate action is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337560" cy="3200400"/>
          </a:xfrm>
          <a:prstGeom prst="roundRect">
            <a:avLst/>
          </a:prstGeom>
          <a:solidFill>
            <a:srgbClr val="0F1B2D"/>
          </a:solidFill>
          <a:ln w="1651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80136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t>EXPIRING SOON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93591"/>
            <a:ext cx="272335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1"/>
                </a:solidFill>
              </a:rPr>
              <a:t>Warranty Ending Soon</a:t>
            </a:r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When the expiry date enters the 3-month window, the system generates a notification.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645920"/>
            <a:ext cx="3337560" cy="3200400"/>
          </a:xfrm>
          <a:prstGeom prst="roundRect">
            <a:avLst/>
          </a:prstGeom>
          <a:solidFill>
            <a:srgbClr val="0F1B2D"/>
          </a:solidFill>
          <a:ln w="16510">
            <a:solidFill>
              <a:srgbClr val="B0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66759" y="180136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t>EXPIRED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240280"/>
            <a:ext cx="2761316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>
                <a:solidFill>
                  <a:schemeClr val="bg1"/>
                </a:solidFill>
              </a:rPr>
              <a:t>Warranty Expired</a:t>
            </a:r>
            <a:endParaRPr lang="en-US" sz="1500" dirty="0">
              <a:solidFill>
                <a:schemeClr val="bg1"/>
              </a:solidFill>
            </a:endParaRPr>
          </a:p>
          <a:p>
            <a:r>
              <a:rPr lang="en-US" sz="1500" dirty="0">
                <a:solidFill>
                  <a:schemeClr val="bg1"/>
                </a:solidFill>
              </a:rPr>
              <a:t>The passport clearly indicates that warranty coverage has ended while preserving the historical record.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380" y="5257800"/>
            <a:ext cx="9236438" cy="877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rPr dirty="0"/>
              <a:t>Example: “Your refrigerator warranty expires in 2 months.”</a:t>
            </a:r>
            <a:endParaRPr lang="en-IN" dirty="0"/>
          </a:p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endParaRPr lang="en-IN" dirty="0"/>
          </a:p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rPr lang="en-US" sz="1700" b="1" dirty="0"/>
              <a:t>Instead of remembering warranty dates ourselves, we let the system remember them for us.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B2D"/>
                </a:solidFill>
                <a:latin typeface="Aptos"/>
              </a:defRPr>
            </a:pPr>
            <a:r>
              <a:t>6. AI Product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26E7A"/>
                </a:solidFill>
                <a:latin typeface="Aptos"/>
              </a:defRPr>
            </a:pPr>
            <a:r>
              <a:t>Users can chat naturally about the products in their passports.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5120640" cy="397763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85005" y="1637639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A5B8C"/>
                </a:solidFill>
                <a:latin typeface="Aptos"/>
              </a:defRPr>
            </a:pPr>
            <a:r>
              <a:rPr dirty="0"/>
              <a:t>EXAMPLE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754879" cy="3246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“What is the warranty status of my refrigerator?”</a:t>
            </a:r>
            <a:br/>
            <a:br/>
            <a:r>
              <a:t>“Which products are still under warranty?”</a:t>
            </a:r>
            <a:br/>
            <a:br/>
            <a:r>
              <a:t>“What model did I purchase?”</a:t>
            </a:r>
            <a:br/>
            <a:br/>
            <a:r>
              <a:t>“Show me the warranty card.”</a:t>
            </a:r>
            <a:br/>
            <a:br/>
            <a:r>
              <a:t>“When did I buy this product?”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5120640" cy="397763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22831" y="1660550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rPr dirty="0"/>
              <a:t>AI ANSWERS FROM USER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52628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The assistant can use:</a:t>
            </a:r>
          </a:p>
          <a:p>
            <a:endParaRPr lang="en-US" sz="1500" dirty="0"/>
          </a:p>
          <a:p>
            <a:r>
              <a:rPr lang="en-US" sz="1500" dirty="0"/>
              <a:t>Digital passport information </a:t>
            </a:r>
          </a:p>
          <a:p>
            <a:r>
              <a:rPr lang="en-US" sz="1500" dirty="0"/>
              <a:t>Warranty details </a:t>
            </a:r>
          </a:p>
          <a:p>
            <a:r>
              <a:rPr lang="en-US" sz="1500" dirty="0"/>
              <a:t>Purchase records </a:t>
            </a:r>
          </a:p>
          <a:p>
            <a:r>
              <a:rPr lang="en-US" sz="1500" dirty="0"/>
              <a:t>Extracted document information </a:t>
            </a:r>
          </a:p>
          <a:p>
            <a:r>
              <a:rPr lang="en-US" sz="1500" dirty="0"/>
              <a:t>Linked product documents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7. New Feature — “Why Is My Bill So High?”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7DCE2"/>
                </a:solidFill>
                <a:latin typeface="Aptos"/>
              </a:defRPr>
            </a:pPr>
            <a:r>
              <a:t>Turn a confusing bill into a simple explanation.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572000" cy="4389120"/>
          </a:xfrm>
          <a:prstGeom prst="roundRect">
            <a:avLst/>
          </a:prstGeom>
          <a:solidFill>
            <a:srgbClr val="0F1B2D"/>
          </a:solidFill>
          <a:ln w="1651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03252" y="1611904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rPr dirty="0"/>
              <a:t>₹4,872 BILL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6775" y="2421852"/>
            <a:ext cx="2506648" cy="1823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	</a:t>
            </a:r>
            <a:r>
              <a:rPr dirty="0"/>
              <a:t>Base charge                 ₹2,100</a:t>
            </a:r>
            <a:br>
              <a:rPr dirty="0"/>
            </a:br>
            <a:r>
              <a:rPr lang="en-IN" dirty="0"/>
              <a:t>	</a:t>
            </a:r>
            <a:r>
              <a:rPr dirty="0"/>
              <a:t>Usage                         </a:t>
            </a:r>
            <a:r>
              <a:rPr lang="en-IN" dirty="0"/>
              <a:t>    </a:t>
            </a:r>
            <a:r>
              <a:rPr dirty="0"/>
              <a:t> ₹1,730</a:t>
            </a:r>
            <a:br>
              <a:rPr dirty="0"/>
            </a:br>
            <a:r>
              <a:rPr lang="en-IN" dirty="0"/>
              <a:t>	</a:t>
            </a:r>
            <a:r>
              <a:rPr dirty="0"/>
              <a:t>Tax                               </a:t>
            </a:r>
            <a:r>
              <a:rPr lang="en-IN" dirty="0"/>
              <a:t>      </a:t>
            </a:r>
            <a:r>
              <a:rPr dirty="0"/>
              <a:t>₹420</a:t>
            </a:r>
            <a:br>
              <a:rPr dirty="0"/>
            </a:br>
            <a:r>
              <a:rPr lang="en-IN" dirty="0"/>
              <a:t>	</a:t>
            </a:r>
            <a:r>
              <a:rPr dirty="0"/>
              <a:t>Late fee                         </a:t>
            </a:r>
            <a:r>
              <a:rPr lang="en-IN" dirty="0"/>
              <a:t> </a:t>
            </a:r>
            <a:r>
              <a:rPr dirty="0"/>
              <a:t>₹300</a:t>
            </a:r>
            <a:br>
              <a:rPr dirty="0"/>
            </a:br>
            <a:r>
              <a:rPr lang="en-IN" dirty="0"/>
              <a:t>	</a:t>
            </a:r>
            <a:r>
              <a:rPr dirty="0"/>
              <a:t>Other                              </a:t>
            </a:r>
            <a:r>
              <a:rPr lang="en-IN" dirty="0"/>
              <a:t> </a:t>
            </a:r>
            <a:r>
              <a:rPr dirty="0"/>
              <a:t>₹322</a:t>
            </a:r>
            <a:br>
              <a:rPr dirty="0"/>
            </a:br>
            <a:br>
              <a:rPr dirty="0"/>
            </a:br>
            <a:r>
              <a:rPr lang="en-IN" dirty="0"/>
              <a:t>	</a:t>
            </a:r>
            <a:r>
              <a:rPr dirty="0"/>
              <a:t>Last month: ₹3,714</a:t>
            </a:r>
            <a:br>
              <a:rPr dirty="0"/>
            </a:br>
            <a:br>
              <a:rPr dirty="0"/>
            </a:br>
            <a:r>
              <a:rPr lang="en-IN" dirty="0"/>
              <a:t>	</a:t>
            </a:r>
            <a:r>
              <a:rPr dirty="0"/>
              <a:t>Increase: 31%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9920" y="2056033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rPr dirty="0"/>
              <a:t>What the AI tells the 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0762" y="2746405"/>
            <a:ext cx="468775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CAA049"/>
                </a:solidFill>
                <a:latin typeface="Aptos"/>
              </a:defRPr>
            </a:pPr>
            <a:r>
              <a:rPr dirty="0"/>
              <a:t>“Your bill increased 31% mainly because of</a:t>
            </a:r>
            <a:endParaRPr lang="en-IN" dirty="0"/>
          </a:p>
          <a:p>
            <a:pPr algn="l">
              <a:defRPr sz="1800" b="1">
                <a:solidFill>
                  <a:srgbClr val="CAA049"/>
                </a:solidFill>
                <a:latin typeface="Aptos"/>
              </a:defRPr>
            </a:pPr>
            <a:r>
              <a:rPr dirty="0"/>
              <a:t> higher usage and a ₹300 late fee.”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360" y="3831648"/>
            <a:ext cx="615649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DCE1E6"/>
                </a:solidFill>
                <a:latin typeface="Aptos"/>
              </a:defRPr>
            </a:pPr>
            <a:r>
              <a:rPr lang="en-US" sz="1400" dirty="0"/>
              <a:t>Instead of simply showing the total amount, the AI explains </a:t>
            </a:r>
            <a:r>
              <a:rPr lang="en-US" sz="1400" b="1" dirty="0"/>
              <a:t>where the money</a:t>
            </a:r>
          </a:p>
          <a:p>
            <a:pPr>
              <a:defRPr sz="1400" b="0">
                <a:solidFill>
                  <a:srgbClr val="DCE1E6"/>
                </a:solidFill>
                <a:latin typeface="Aptos"/>
              </a:defRPr>
            </a:pPr>
            <a:r>
              <a:rPr lang="en-US" sz="1400" b="1" dirty="0"/>
              <a:t>went and what caused the increase.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901132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6588" y="387326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B2D"/>
                </a:solidFill>
                <a:latin typeface="Aptos"/>
              </a:defRPr>
            </a:pPr>
            <a:r>
              <a:t>How Bill Intelligence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4020" y="91767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26E7A"/>
                </a:solidFill>
                <a:latin typeface="Aptos"/>
              </a:defRPr>
            </a:pPr>
            <a:r>
              <a:t>A separate document-understanding pipeline handles bills.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2308" y="1941806"/>
            <a:ext cx="204459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8028" y="1960094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UPLOAD BILL</a:t>
            </a:r>
          </a:p>
        </p:txBody>
      </p:sp>
      <p:sp>
        <p:nvSpPr>
          <p:cNvPr id="7" name="Chevron 6"/>
          <p:cNvSpPr/>
          <p:nvPr/>
        </p:nvSpPr>
        <p:spPr>
          <a:xfrm>
            <a:off x="2695194" y="2225270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41498" y="1941806"/>
            <a:ext cx="204459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4" y="1925346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OCR + VISION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4904384" y="2225270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50688" y="1941806"/>
            <a:ext cx="2044598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3618" y="1925346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STRUCTURED ITEMS</a:t>
            </a:r>
          </a:p>
        </p:txBody>
      </p:sp>
      <p:sp>
        <p:nvSpPr>
          <p:cNvPr id="13" name="Chevron 12"/>
          <p:cNvSpPr/>
          <p:nvPr/>
        </p:nvSpPr>
        <p:spPr>
          <a:xfrm>
            <a:off x="7113575" y="2225270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232446" y="1719654"/>
            <a:ext cx="2157917" cy="1090832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45058" y="1830691"/>
            <a:ext cx="195315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COMPARE HISTORY</a:t>
            </a:r>
          </a:p>
        </p:txBody>
      </p:sp>
      <p:sp>
        <p:nvSpPr>
          <p:cNvPr id="16" name="Chevron 15"/>
          <p:cNvSpPr/>
          <p:nvPr/>
        </p:nvSpPr>
        <p:spPr>
          <a:xfrm>
            <a:off x="9450558" y="2214902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587941" y="1719654"/>
            <a:ext cx="2185218" cy="1090832"/>
          </a:xfrm>
          <a:prstGeom prst="roundRect">
            <a:avLst/>
          </a:prstGeom>
          <a:solidFill>
            <a:srgbClr val="FFFFFF"/>
          </a:solidFill>
          <a:ln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09666" y="1763839"/>
            <a:ext cx="15417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PLAIN-LANGUAGE </a:t>
            </a:r>
            <a:endParaRPr lang="en-IN" dirty="0"/>
          </a:p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EXPLANATION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9468" y="3450566"/>
            <a:ext cx="3246120" cy="1828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2348" y="360601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A5B8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348" y="4044926"/>
            <a:ext cx="2880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Upload a bill or invoice.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72788" y="3450566"/>
            <a:ext cx="3246120" cy="1828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55668" y="360601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5668" y="4044926"/>
            <a:ext cx="2758447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rPr dirty="0"/>
              <a:t>Breakdown + historical comparison + </a:t>
            </a:r>
            <a:endParaRPr lang="en-IN" dirty="0"/>
          </a:p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rPr dirty="0"/>
              <a:t>unusual changes.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6107" y="3450566"/>
            <a:ext cx="3246120" cy="18288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5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58987" y="3606014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57D5B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8987" y="4044926"/>
            <a:ext cx="2880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t>Explain the main reasons for the increase.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6588" y="6449798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873588" y="647723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1797A4-9762-CB51-CF84-231D6EF502C3}"/>
              </a:ext>
            </a:extLst>
          </p:cNvPr>
          <p:cNvSpPr txBox="1"/>
          <p:nvPr/>
        </p:nvSpPr>
        <p:spPr>
          <a:xfrm>
            <a:off x="667210" y="2142974"/>
            <a:ext cx="2091992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dirty="0"/>
              <a:t>Electricity / Internet / Mobile / Water / Subscription / Restaurant / Repair</a:t>
            </a:r>
            <a:endParaRPr lang="en-IN" sz="12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4BF435-B9C4-0A58-7450-7C82EC58873A}"/>
              </a:ext>
            </a:extLst>
          </p:cNvPr>
          <p:cNvSpPr txBox="1"/>
          <p:nvPr/>
        </p:nvSpPr>
        <p:spPr>
          <a:xfrm>
            <a:off x="2850197" y="2126686"/>
            <a:ext cx="211775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Convert the visual bill into meaningful information.</a:t>
            </a:r>
          </a:p>
          <a:p>
            <a:endParaRPr lang="en-IN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68AFEC-847C-947C-1C62-BC600D573674}"/>
              </a:ext>
            </a:extLst>
          </p:cNvPr>
          <p:cNvSpPr txBox="1"/>
          <p:nvPr/>
        </p:nvSpPr>
        <p:spPr>
          <a:xfrm>
            <a:off x="5078342" y="2108226"/>
            <a:ext cx="199843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50" dirty="0"/>
              <a:t>Every charge becomes a structured, machine-readable record.</a:t>
            </a:r>
          </a:p>
          <a:p>
            <a:endParaRPr lang="en-IN" sz="145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9DD683-5CB3-5C77-9F17-AF777CF62DA6}"/>
              </a:ext>
            </a:extLst>
          </p:cNvPr>
          <p:cNvSpPr txBox="1"/>
          <p:nvPr/>
        </p:nvSpPr>
        <p:spPr>
          <a:xfrm>
            <a:off x="7182635" y="2061802"/>
            <a:ext cx="3108555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If no previous bill exists, system </a:t>
            </a:r>
          </a:p>
          <a:p>
            <a:r>
              <a:rPr lang="en-US" sz="1300" dirty="0"/>
              <a:t>analyses  current bill without </a:t>
            </a:r>
          </a:p>
          <a:p>
            <a:r>
              <a:rPr lang="en-US" sz="1300" dirty="0"/>
              <a:t>making a historical comparison.</a:t>
            </a:r>
            <a:endParaRPr lang="en-IN" sz="13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3FA2BF-ECD7-8601-9B25-92B595BDB918}"/>
              </a:ext>
            </a:extLst>
          </p:cNvPr>
          <p:cNvSpPr txBox="1"/>
          <p:nvPr/>
        </p:nvSpPr>
        <p:spPr>
          <a:xfrm>
            <a:off x="9621542" y="2259173"/>
            <a:ext cx="27347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Your bill increased by 31% compared with last month.</a:t>
            </a:r>
            <a:endParaRPr lang="en-IN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One Platform, Two Intelligence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7DCE2"/>
                </a:solidFill>
                <a:latin typeface="Aptos"/>
              </a:defRPr>
            </a:pPr>
            <a:r>
              <a:t>Product intelligence and bill intelligence share the same AI/document foundation.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5166360" cy="3931920"/>
          </a:xfrm>
          <a:prstGeom prst="roundRect">
            <a:avLst/>
          </a:prstGeom>
          <a:solidFill>
            <a:srgbClr val="0F1B2D"/>
          </a:solidFill>
          <a:ln w="16510"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t>PRODUCT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800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t>Product detection</a:t>
            </a:r>
            <a:br/>
            <a:r>
              <a:t>→ Passport creation</a:t>
            </a:r>
            <a:br/>
            <a:r>
              <a:t>→ Warranty/receipt extraction</a:t>
            </a:r>
            <a:br/>
            <a:r>
              <a:t>→ Warranty alerts</a:t>
            </a:r>
            <a:br/>
            <a:r>
              <a:t>→ Product AI 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00200"/>
            <a:ext cx="5166360" cy="3931920"/>
          </a:xfrm>
          <a:prstGeom prst="roundRect">
            <a:avLst/>
          </a:prstGeom>
          <a:solidFill>
            <a:srgbClr val="0F1B2D"/>
          </a:solidFill>
          <a:ln w="1651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75564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t>BILL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800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t>Bill upload</a:t>
            </a:r>
            <a:br/>
            <a:r>
              <a:t>→ OCR + extraction</a:t>
            </a:r>
            <a:br/>
            <a:r>
              <a:t>→ Line-item analysis</a:t>
            </a:r>
            <a:br/>
            <a:r>
              <a:t>→ Historical comparison</a:t>
            </a:r>
            <a:br/>
            <a:r>
              <a:t>→ “Why is my bill so high?”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1157CB-2CE1-D676-B899-D22A96CABBBA}"/>
              </a:ext>
            </a:extLst>
          </p:cNvPr>
          <p:cNvSpPr txBox="1"/>
          <p:nvPr/>
        </p:nvSpPr>
        <p:spPr>
          <a:xfrm>
            <a:off x="1310352" y="5716372"/>
            <a:ext cx="9713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Both capabilities are built around the same core idea: turning unstructured real-world information into useful, actionable intelligence.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B2D"/>
                </a:solidFill>
                <a:latin typeface="Aptos"/>
              </a:defRPr>
            </a:pPr>
            <a:r>
              <a:t>MVP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26E7A"/>
                </a:solidFill>
                <a:latin typeface="Aptos"/>
              </a:defRPr>
            </a:pPr>
            <a:r>
              <a:t>Build the reliable core first, then add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74720" cy="4251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A5B8C"/>
                </a:solidFill>
                <a:latin typeface="Aptos"/>
              </a:defRPr>
            </a:pPr>
            <a:r>
              <a:t>PHASE 1 —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67774"/>
            <a:ext cx="1954746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rPr lang="en-IN" sz="1250" dirty="0"/>
              <a:t>Product detection Product identification Product photo storage Digital passport creation Warranty/receipt OCR Structured information extraction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361688" y="1508760"/>
            <a:ext cx="3474720" cy="4251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44568" y="1664207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t>PHASE 2 — PRODUCT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103120"/>
            <a:ext cx="2080519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rPr lang="en-US" sz="1250" dirty="0"/>
              <a:t>Warranty expiry monitoring monthly notifications</a:t>
            </a:r>
          </a:p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rPr lang="en-US" sz="1250" dirty="0"/>
              <a:t> Product AI assistant Multiple product handling </a:t>
            </a:r>
          </a:p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rPr lang="en-US" sz="1250" dirty="0"/>
              <a:t>Document history Product-to-passport matching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8083296" y="1508760"/>
            <a:ext cx="3474720" cy="4251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35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66175" y="1664207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357D5B"/>
                </a:solidFill>
                <a:latin typeface="Aptos"/>
              </a:defRPr>
            </a:pPr>
            <a:r>
              <a:t>PHASE 3 — BILL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5" y="2103120"/>
            <a:ext cx="3102865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32D37"/>
                </a:solidFill>
                <a:latin typeface="Aptos"/>
              </a:defRPr>
            </a:pPr>
            <a:r>
              <a:rPr dirty="0"/>
              <a:t>• Bill OCR/extraction</a:t>
            </a:r>
            <a:br>
              <a:rPr dirty="0"/>
            </a:br>
            <a:r>
              <a:rPr dirty="0"/>
              <a:t>• Line-item parsing</a:t>
            </a:r>
            <a:endParaRPr lang="en-IN" dirty="0"/>
          </a:p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rPr lang="en-US" sz="1250" dirty="0"/>
              <a:t>Historical comparison </a:t>
            </a:r>
          </a:p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rPr lang="en-US" sz="1250" dirty="0"/>
              <a:t>Spending analysis </a:t>
            </a:r>
          </a:p>
          <a:p>
            <a:pPr>
              <a:defRPr sz="1250" b="0">
                <a:solidFill>
                  <a:srgbClr val="232D37"/>
                </a:solidFill>
                <a:latin typeface="Aptos"/>
              </a:defRPr>
            </a:pPr>
            <a:r>
              <a:rPr lang="en-US" sz="1250" dirty="0"/>
              <a:t>“Why Is My Bill So High?” explanation</a:t>
            </a:r>
            <a:br>
              <a:rPr dirty="0"/>
            </a:br>
            <a:r>
              <a:rPr dirty="0"/>
              <a:t>• Optional product-energy insight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D7DCE2"/>
                </a:solidFill>
                <a:latin typeface="Aptos"/>
              </a:defRPr>
            </a:pPr>
            <a:r>
              <a:t>Specialized models handle specialized tasks.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743200" cy="4297680"/>
          </a:xfrm>
          <a:prstGeom prst="roundRect">
            <a:avLst/>
          </a:prstGeom>
          <a:solidFill>
            <a:srgbClr val="0F1B2D"/>
          </a:solidFill>
          <a:ln w="16510"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664207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t>VISION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03120"/>
            <a:ext cx="2262542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rPr dirty="0"/>
              <a:t>YOLO26</a:t>
            </a:r>
            <a:br>
              <a:rPr dirty="0"/>
            </a:br>
            <a:r>
              <a:rPr dirty="0"/>
              <a:t>Product localization/detection</a:t>
            </a:r>
            <a:br>
              <a:rPr dirty="0"/>
            </a:br>
            <a:br>
              <a:rPr dirty="0"/>
            </a:br>
            <a:r>
              <a:rPr dirty="0"/>
              <a:t>Qwen2.5-VL</a:t>
            </a:r>
            <a:br>
              <a:rPr dirty="0"/>
            </a:br>
            <a:r>
              <a:rPr dirty="0"/>
              <a:t>Product verification + visual </a:t>
            </a:r>
            <a:endParaRPr lang="en-IN" dirty="0"/>
          </a:p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rPr dirty="0"/>
              <a:t>understanding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508760"/>
            <a:ext cx="2743200" cy="4297680"/>
          </a:xfrm>
          <a:prstGeom prst="roundRect">
            <a:avLst/>
          </a:prstGeom>
          <a:solidFill>
            <a:srgbClr val="0F1B2D"/>
          </a:solidFill>
          <a:ln w="16510"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94760" y="1664207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t>DOCUMENT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103120"/>
            <a:ext cx="237744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t>PaddleOCR / Tesseract</a:t>
            </a:r>
            <a:br/>
            <a:r>
              <a:t>Text extraction</a:t>
            </a:r>
            <a:br/>
            <a:br/>
            <a:r>
              <a:t>Qwen2.5-VL</a:t>
            </a:r>
            <a:br/>
            <a:r>
              <a:t>Structured field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508760"/>
            <a:ext cx="2331720" cy="4297680"/>
          </a:xfrm>
          <a:prstGeom prst="roundRect">
            <a:avLst/>
          </a:prstGeom>
          <a:solidFill>
            <a:srgbClr val="0F1B2D"/>
          </a:solidFill>
          <a:ln w="16510">
            <a:solidFill>
              <a:srgbClr val="35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664207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1640706" cy="18235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rPr dirty="0"/>
              <a:t>Passport records</a:t>
            </a:r>
            <a:br>
              <a:rPr dirty="0"/>
            </a:br>
            <a:br>
              <a:rPr dirty="0"/>
            </a:br>
            <a:r>
              <a:rPr dirty="0"/>
              <a:t>Product photos</a:t>
            </a:r>
            <a:br>
              <a:rPr dirty="0"/>
            </a:br>
            <a:br>
              <a:rPr dirty="0"/>
            </a:br>
            <a:r>
              <a:rPr dirty="0"/>
              <a:t>Original documents</a:t>
            </a:r>
            <a:r>
              <a:rPr lang="en-IN" dirty="0"/>
              <a:t>\</a:t>
            </a:r>
          </a:p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endParaRPr lang="en-IN" dirty="0"/>
          </a:p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Warranty Information</a:t>
            </a:r>
            <a:br>
              <a:rPr dirty="0"/>
            </a:br>
            <a:br>
              <a:rPr dirty="0"/>
            </a:br>
            <a:r>
              <a:rPr dirty="0"/>
              <a:t>Bill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508760"/>
            <a:ext cx="2331720" cy="4297680"/>
          </a:xfrm>
          <a:prstGeom prst="roundRect">
            <a:avLst/>
          </a:prstGeom>
          <a:solidFill>
            <a:srgbClr val="0F1B2D"/>
          </a:solidFill>
          <a:ln w="16510"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664207"/>
            <a:ext cx="1965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CAA049"/>
                </a:solidFill>
                <a:latin typeface="Aptos"/>
              </a:defRPr>
            </a:pPr>
            <a:r>
              <a:t>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103120"/>
            <a:ext cx="196596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0">
                <a:solidFill>
                  <a:srgbClr val="FFFFFF"/>
                </a:solidFill>
                <a:latin typeface="Aptos"/>
              </a:defRPr>
            </a:pPr>
            <a:r>
              <a:t>Web UI</a:t>
            </a:r>
            <a:br/>
            <a:br/>
            <a:r>
              <a:t>Notifications</a:t>
            </a:r>
            <a:br/>
            <a:br/>
            <a:r>
              <a:t>AI chat</a:t>
            </a:r>
            <a:br/>
            <a:br/>
            <a:r>
              <a:t>Passport viewer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334532"/>
            <a:ext cx="12191695" cy="7192532"/>
          </a:xfrm>
          <a:prstGeom prst="rect">
            <a:avLst/>
          </a:prstGeom>
          <a:solidFill>
            <a:srgbClr val="F7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2057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F1B2D"/>
                </a:solidFill>
                <a:latin typeface="Aptos"/>
              </a:defRPr>
            </a:pPr>
            <a:r>
              <a:rPr dirty="0"/>
              <a:t>Demo Story — What the User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58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26E7A"/>
                </a:solidFill>
                <a:latin typeface="Aptos"/>
              </a:defRPr>
            </a:pPr>
            <a:r>
              <a:t>A simple journey that is easy to demonstrate.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61872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144087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CAA049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21892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14500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Scan washing machine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9256" y="1252728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25768" y="1424351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CAA049"/>
                </a:solidFill>
                <a:latin typeface="Aptos"/>
              </a:defRPr>
            </a:pPr>
            <a:r>
              <a:rPr dirty="0"/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438455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0F1B2D"/>
                </a:solidFill>
                <a:latin typeface="Aptos"/>
              </a:defRPr>
            </a:pPr>
            <a:r>
              <a:rPr dirty="0"/>
              <a:t>PASSPORT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771650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Create passport + save photo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782" y="2693598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2876047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AA04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98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0F1B2D"/>
                </a:solidFill>
                <a:latin typeface="Aptos"/>
              </a:defRPr>
            </a:pPr>
            <a:r>
              <a:t>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195" y="3180473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Scan warranty 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6688" y="2693598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473952" y="29535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CAA049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8986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0F1B2D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213124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Extract model, serial, date, price, warranty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144732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850392" y="4321833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CAA04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159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0F1B2D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195" y="4670512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Track expiry + notify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20624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3952" y="432769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CAA049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3159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0F1B2D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3771" y="4670512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rPr dirty="0"/>
              <a:t>Ask AI about the product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0782" y="555498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2" y="578815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CAA049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733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50" b="1">
                <a:solidFill>
                  <a:srgbClr val="0F1B2D"/>
                </a:solidFill>
                <a:latin typeface="Aptos"/>
              </a:defRPr>
            </a:pPr>
            <a:r>
              <a:t>BILL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6099048"/>
            <a:ext cx="39776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Ask: “Why is my bill so high?”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"/>
              </a:defRPr>
            </a:pPr>
            <a:r>
              <a:t>From owning a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CAA049"/>
                </a:solidFill>
                <a:latin typeface="Aptos"/>
              </a:defRPr>
            </a:pPr>
            <a:r>
              <a:t>to understanding its documents, warranty and costs.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54680"/>
            <a:ext cx="167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355848"/>
            <a:ext cx="158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7" name="Chevron 6"/>
          <p:cNvSpPr/>
          <p:nvPr/>
        </p:nvSpPr>
        <p:spPr>
          <a:xfrm>
            <a:off x="2334768" y="343814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81071" y="3154680"/>
            <a:ext cx="167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26791" y="3355848"/>
            <a:ext cx="158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PASSPORT</a:t>
            </a:r>
          </a:p>
        </p:txBody>
      </p:sp>
      <p:sp>
        <p:nvSpPr>
          <p:cNvPr id="10" name="Chevron 9"/>
          <p:cNvSpPr/>
          <p:nvPr/>
        </p:nvSpPr>
        <p:spPr>
          <a:xfrm>
            <a:off x="4175759" y="343814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2064" y="3154680"/>
            <a:ext cx="167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7784" y="3355848"/>
            <a:ext cx="158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13" name="Chevron 12"/>
          <p:cNvSpPr/>
          <p:nvPr/>
        </p:nvSpPr>
        <p:spPr>
          <a:xfrm>
            <a:off x="6016751" y="343814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63055" y="3154680"/>
            <a:ext cx="167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08775" y="3355848"/>
            <a:ext cx="158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WARRANTY</a:t>
            </a:r>
          </a:p>
        </p:txBody>
      </p:sp>
      <p:sp>
        <p:nvSpPr>
          <p:cNvPr id="16" name="Chevron 15"/>
          <p:cNvSpPr/>
          <p:nvPr/>
        </p:nvSpPr>
        <p:spPr>
          <a:xfrm>
            <a:off x="7857743" y="343814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04047" y="3154680"/>
            <a:ext cx="167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2A5B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9767" y="3355848"/>
            <a:ext cx="158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9" name="Chevron 18"/>
          <p:cNvSpPr/>
          <p:nvPr/>
        </p:nvSpPr>
        <p:spPr>
          <a:xfrm>
            <a:off x="9698735" y="3438144"/>
            <a:ext cx="118872" cy="274320"/>
          </a:xfrm>
          <a:prstGeom prst="chevron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45040" y="3154680"/>
            <a:ext cx="1676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AA0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90760" y="3355848"/>
            <a:ext cx="15849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0F1B2D"/>
                </a:solidFill>
                <a:latin typeface="Aptos"/>
              </a:defRPr>
            </a:pPr>
            <a:r>
              <a:t>BILLS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800600"/>
            <a:ext cx="9784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D2DCE6"/>
                </a:solidFill>
                <a:latin typeface="Aptos"/>
              </a:defRPr>
            </a:pPr>
            <a:r>
              <a:t>A practical AI assistant for the complete ownership lifecycle.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28232"/>
            <a:ext cx="10972800" cy="10972"/>
          </a:xfrm>
          <a:prstGeom prst="rect">
            <a:avLst/>
          </a:prstGeom>
          <a:solidFill>
            <a:srgbClr val="CAA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60" y="6455664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CAA049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1514</Words>
  <Application>Microsoft Office PowerPoint</Application>
  <PresentationFormat>Widescreen</PresentationFormat>
  <Paragraphs>246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Product Passport &amp; Bill Intelligence</dc:title>
  <dc:subject>Project presentation</dc:subject>
  <dc:creator>Project Team</dc:creator>
  <cp:keywords/>
  <dc:description>generated using python-pptx</dc:description>
  <cp:lastModifiedBy>Jagadiish S.D.</cp:lastModifiedBy>
  <cp:revision>24</cp:revision>
  <dcterms:created xsi:type="dcterms:W3CDTF">2013-01-27T09:14:16Z</dcterms:created>
  <dcterms:modified xsi:type="dcterms:W3CDTF">2026-09-05T09:13:27Z</dcterms:modified>
  <cp:category/>
</cp:coreProperties>
</file>